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embeddedFontLst>
    <p:embeddedFont>
      <p:font typeface="微软雅黑" panose="020B0503020204020204" pitchFamily="34" charset="-122"/>
      <p:regular r:id="rId18"/>
      <p:bold r:id="rId19"/>
    </p:embeddedFont>
    <p:embeddedFont>
      <p:font typeface="Hedvig Letters Sans" panose="020B0604020202020204" charset="0"/>
      <p:regular r:id="rId20"/>
    </p:embeddedFont>
    <p:embeddedFont>
      <p:font typeface="Liter" panose="020B0604020202020204" charset="0"/>
      <p:regular r:id="rId21"/>
    </p:embeddedFont>
    <p:embeddedFont>
      <p:font typeface="Quattrocento Sans" panose="020B0502050000020003" pitchFamily="34" charset="0"/>
      <p:regular r:id="rId22"/>
      <p:bold r:id="rId23"/>
    </p:embeddedFont>
    <p:embeddedFont>
      <p:font typeface="Sorts Mill Goudy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372" y="-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916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gb.com/f3b85bab1acc7291f9fefa978583d0432591bcf7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0700" y="520700"/>
            <a:ext cx="4673600" cy="584200"/>
          </a:xfrm>
          <a:custGeom>
            <a:avLst/>
            <a:gdLst/>
            <a:ahLst/>
            <a:cxnLst/>
            <a:rect l="l" t="t" r="r" b="b"/>
            <a:pathLst>
              <a:path w="4673600" h="584200">
                <a:moveTo>
                  <a:pt x="50802" y="0"/>
                </a:moveTo>
                <a:lnTo>
                  <a:pt x="4622798" y="0"/>
                </a:lnTo>
                <a:cubicBezTo>
                  <a:pt x="4650855" y="0"/>
                  <a:pt x="4673600" y="22745"/>
                  <a:pt x="4673600" y="50802"/>
                </a:cubicBezTo>
                <a:lnTo>
                  <a:pt x="4673600" y="533398"/>
                </a:lnTo>
                <a:cubicBezTo>
                  <a:pt x="4673600" y="561455"/>
                  <a:pt x="4650855" y="584200"/>
                  <a:pt x="4622798" y="584200"/>
                </a:cubicBezTo>
                <a:lnTo>
                  <a:pt x="50802" y="584200"/>
                </a:lnTo>
                <a:cubicBezTo>
                  <a:pt x="22745" y="584200"/>
                  <a:pt x="0" y="561455"/>
                  <a:pt x="0" y="533398"/>
                </a:cubicBezTo>
                <a:lnTo>
                  <a:pt x="0" y="50802"/>
                </a:lnTo>
                <a:cubicBezTo>
                  <a:pt x="0" y="22764"/>
                  <a:pt x="22764" y="0"/>
                  <a:pt x="508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7400" y="626533"/>
            <a:ext cx="4266274" cy="364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NETWORK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229424" y="508000"/>
            <a:ext cx="15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280224" y="91440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Mission Critical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2355850"/>
            <a:ext cx="1183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PESI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34734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508000" y="3727450"/>
            <a:ext cx="1168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Pakistan Emergency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 Infrastructure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8000" y="5556250"/>
            <a:ext cx="1153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Enterprise Network Infrastructure Analysis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7505700"/>
            <a:ext cx="15240000" cy="25400"/>
          </a:xfrm>
          <a:custGeom>
            <a:avLst/>
            <a:gdLst/>
            <a:ahLst/>
            <a:cxnLst/>
            <a:rect l="l" t="t" r="r" b="b"/>
            <a:pathLst>
              <a:path w="15240000" h="25400">
                <a:moveTo>
                  <a:pt x="0" y="0"/>
                </a:moveTo>
                <a:lnTo>
                  <a:pt x="15240000" y="0"/>
                </a:lnTo>
                <a:lnTo>
                  <a:pt x="15240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13" name="Text 10"/>
          <p:cNvSpPr/>
          <p:nvPr/>
        </p:nvSpPr>
        <p:spPr>
          <a:xfrm>
            <a:off x="508000" y="7874000"/>
            <a:ext cx="373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by:</a:t>
            </a: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Abdul Wahid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8000" y="8280400"/>
            <a:ext cx="373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Project:</a:t>
            </a: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PESI Network Architecture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214887" y="78232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0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December 24, 2025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291087" y="82804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Analysis Report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233" y="512233"/>
            <a:ext cx="1634067" cy="427567"/>
          </a:xfrm>
          <a:custGeom>
            <a:avLst/>
            <a:gdLst/>
            <a:ahLst/>
            <a:cxnLst/>
            <a:rect l="l" t="t" r="r" b="b"/>
            <a:pathLst>
              <a:path w="1634067" h="427567">
                <a:moveTo>
                  <a:pt x="0" y="0"/>
                </a:moveTo>
                <a:lnTo>
                  <a:pt x="1634067" y="0"/>
                </a:lnTo>
                <a:lnTo>
                  <a:pt x="1634067" y="427567"/>
                </a:lnTo>
                <a:lnTo>
                  <a:pt x="0" y="427567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8867" y="575734"/>
            <a:ext cx="142570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922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Architecture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803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159000"/>
            <a:ext cx="7467600" cy="1854200"/>
          </a:xfrm>
          <a:custGeom>
            <a:avLst/>
            <a:gdLst/>
            <a:ahLst/>
            <a:cxnLst/>
            <a:rect l="l" t="t" r="r" b="b"/>
            <a:pathLst>
              <a:path w="7467600" h="1854200">
                <a:moveTo>
                  <a:pt x="0" y="0"/>
                </a:moveTo>
                <a:lnTo>
                  <a:pt x="7467600" y="0"/>
                </a:lnTo>
                <a:lnTo>
                  <a:pt x="74676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215900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970624" y="25400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27200" y="2413000"/>
            <a:ext cx="330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 Quarter (HQ)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27200" y="2921000"/>
            <a:ext cx="325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Network Infrastructure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27200" y="3403600"/>
            <a:ext cx="1003300" cy="355600"/>
          </a:xfrm>
          <a:custGeom>
            <a:avLst/>
            <a:gdLst/>
            <a:ahLst/>
            <a:cxnLst/>
            <a:rect l="l" t="t" r="r" b="b"/>
            <a:pathLst>
              <a:path w="1003300" h="355600">
                <a:moveTo>
                  <a:pt x="0" y="0"/>
                </a:moveTo>
                <a:lnTo>
                  <a:pt x="1003300" y="0"/>
                </a:lnTo>
                <a:lnTo>
                  <a:pt x="10033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27200" y="3403600"/>
            <a:ext cx="10922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VLANs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35275" y="3403600"/>
            <a:ext cx="1104900" cy="355600"/>
          </a:xfrm>
          <a:custGeom>
            <a:avLst/>
            <a:gdLst/>
            <a:ahLst/>
            <a:cxnLst/>
            <a:rect l="l" t="t" r="r" b="b"/>
            <a:pathLst>
              <a:path w="1104900" h="355600">
                <a:moveTo>
                  <a:pt x="0" y="0"/>
                </a:moveTo>
                <a:lnTo>
                  <a:pt x="1104900" y="0"/>
                </a:lnTo>
                <a:lnTo>
                  <a:pt x="11049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835275" y="3403600"/>
            <a:ext cx="11938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Core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42172" y="3403600"/>
            <a:ext cx="825500" cy="355600"/>
          </a:xfrm>
          <a:custGeom>
            <a:avLst/>
            <a:gdLst/>
            <a:ahLst/>
            <a:cxnLst/>
            <a:rect l="l" t="t" r="r" b="b"/>
            <a:pathLst>
              <a:path w="825500" h="355600">
                <a:moveTo>
                  <a:pt x="0" y="0"/>
                </a:moveTo>
                <a:lnTo>
                  <a:pt x="825500" y="0"/>
                </a:lnTo>
                <a:lnTo>
                  <a:pt x="8255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042172" y="3403600"/>
            <a:ext cx="914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80400" y="2159000"/>
            <a:ext cx="7467600" cy="1854200"/>
          </a:xfrm>
          <a:custGeom>
            <a:avLst/>
            <a:gdLst/>
            <a:ahLst/>
            <a:cxnLst/>
            <a:rect l="l" t="t" r="r" b="b"/>
            <a:pathLst>
              <a:path w="7467600" h="1854200">
                <a:moveTo>
                  <a:pt x="0" y="0"/>
                </a:moveTo>
                <a:lnTo>
                  <a:pt x="7467600" y="0"/>
                </a:lnTo>
                <a:lnTo>
                  <a:pt x="74676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80400" y="215900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0" name="Shape 18"/>
          <p:cNvSpPr/>
          <p:nvPr/>
        </p:nvSpPr>
        <p:spPr>
          <a:xfrm>
            <a:off x="85598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3096" y="25400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74200" y="2413000"/>
            <a:ext cx="317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74200" y="2921000"/>
            <a:ext cx="312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Redundant Remote Office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74200" y="3403600"/>
            <a:ext cx="1003300" cy="355600"/>
          </a:xfrm>
          <a:custGeom>
            <a:avLst/>
            <a:gdLst/>
            <a:ahLst/>
            <a:cxnLst/>
            <a:rect l="l" t="t" r="r" b="b"/>
            <a:pathLst>
              <a:path w="1003300" h="355600">
                <a:moveTo>
                  <a:pt x="0" y="0"/>
                </a:moveTo>
                <a:lnTo>
                  <a:pt x="1003300" y="0"/>
                </a:lnTo>
                <a:lnTo>
                  <a:pt x="10033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74200" y="3403600"/>
            <a:ext cx="10922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VLANs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82275" y="3403600"/>
            <a:ext cx="990600" cy="355600"/>
          </a:xfrm>
          <a:custGeom>
            <a:avLst/>
            <a:gdLst/>
            <a:ahLst/>
            <a:cxnLst/>
            <a:rect l="l" t="t" r="r" b="b"/>
            <a:pathLst>
              <a:path w="990600" h="355600">
                <a:moveTo>
                  <a:pt x="0" y="0"/>
                </a:moveTo>
                <a:lnTo>
                  <a:pt x="990600" y="0"/>
                </a:lnTo>
                <a:lnTo>
                  <a:pt x="9906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582275" y="3403600"/>
            <a:ext cx="1079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HSRPv2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670506" y="3403600"/>
            <a:ext cx="825500" cy="355600"/>
          </a:xfrm>
          <a:custGeom>
            <a:avLst/>
            <a:gdLst/>
            <a:ahLst/>
            <a:cxnLst/>
            <a:rect l="l" t="t" r="r" b="b"/>
            <a:pathLst>
              <a:path w="825500" h="355600">
                <a:moveTo>
                  <a:pt x="0" y="0"/>
                </a:moveTo>
                <a:lnTo>
                  <a:pt x="825500" y="0"/>
                </a:lnTo>
                <a:lnTo>
                  <a:pt x="8255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670506" y="3403600"/>
            <a:ext cx="914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400" y="4267200"/>
            <a:ext cx="7467600" cy="1854200"/>
          </a:xfrm>
          <a:custGeom>
            <a:avLst/>
            <a:gdLst/>
            <a:ahLst/>
            <a:cxnLst/>
            <a:rect l="l" t="t" r="r" b="b"/>
            <a:pathLst>
              <a:path w="7467600" h="1854200">
                <a:moveTo>
                  <a:pt x="0" y="0"/>
                </a:moveTo>
                <a:lnTo>
                  <a:pt x="7467600" y="0"/>
                </a:lnTo>
                <a:lnTo>
                  <a:pt x="74676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/>
        </p:spPr>
      </p:sp>
      <p:sp>
        <p:nvSpPr>
          <p:cNvPr id="31" name="Shape 29"/>
          <p:cNvSpPr/>
          <p:nvPr/>
        </p:nvSpPr>
        <p:spPr>
          <a:xfrm>
            <a:off x="533400" y="426720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800" y="4521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33" name="Text 31"/>
          <p:cNvSpPr/>
          <p:nvPr/>
        </p:nvSpPr>
        <p:spPr>
          <a:xfrm>
            <a:off x="934376" y="46482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27200" y="452120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1 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27200" y="5029200"/>
            <a:ext cx="3200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Offices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727200" y="5511800"/>
            <a:ext cx="1003300" cy="355600"/>
          </a:xfrm>
          <a:custGeom>
            <a:avLst/>
            <a:gdLst/>
            <a:ahLst/>
            <a:cxnLst/>
            <a:rect l="l" t="t" r="r" b="b"/>
            <a:pathLst>
              <a:path w="1003300" h="355600">
                <a:moveTo>
                  <a:pt x="0" y="0"/>
                </a:moveTo>
                <a:lnTo>
                  <a:pt x="1003300" y="0"/>
                </a:lnTo>
                <a:lnTo>
                  <a:pt x="10033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727200" y="5511800"/>
            <a:ext cx="10922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F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VLANs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835275" y="5511800"/>
            <a:ext cx="1054100" cy="355600"/>
          </a:xfrm>
          <a:custGeom>
            <a:avLst/>
            <a:gdLst/>
            <a:ahLst/>
            <a:cxnLst/>
            <a:rect l="l" t="t" r="r" b="b"/>
            <a:pathLst>
              <a:path w="1054100" h="355600">
                <a:moveTo>
                  <a:pt x="0" y="0"/>
                </a:moveTo>
                <a:lnTo>
                  <a:pt x="1054100" y="0"/>
                </a:lnTo>
                <a:lnTo>
                  <a:pt x="10541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835275" y="5511800"/>
            <a:ext cx="11430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F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NAT/PAT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92563" y="5511800"/>
            <a:ext cx="825500" cy="355600"/>
          </a:xfrm>
          <a:custGeom>
            <a:avLst/>
            <a:gdLst/>
            <a:ahLst/>
            <a:cxnLst/>
            <a:rect l="l" t="t" r="r" b="b"/>
            <a:pathLst>
              <a:path w="825500" h="355600">
                <a:moveTo>
                  <a:pt x="0" y="0"/>
                </a:moveTo>
                <a:lnTo>
                  <a:pt x="825500" y="0"/>
                </a:lnTo>
                <a:lnTo>
                  <a:pt x="8255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992563" y="5511800"/>
            <a:ext cx="914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F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0400" y="4267200"/>
            <a:ext cx="7467600" cy="1854200"/>
          </a:xfrm>
          <a:custGeom>
            <a:avLst/>
            <a:gdLst/>
            <a:ahLst/>
            <a:cxnLst/>
            <a:rect l="l" t="t" r="r" b="b"/>
            <a:pathLst>
              <a:path w="7467600" h="1854200">
                <a:moveTo>
                  <a:pt x="0" y="0"/>
                </a:moveTo>
                <a:lnTo>
                  <a:pt x="7467600" y="0"/>
                </a:lnTo>
                <a:lnTo>
                  <a:pt x="74676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/>
        </p:spPr>
      </p:sp>
      <p:sp>
        <p:nvSpPr>
          <p:cNvPr id="43" name="Shape 41"/>
          <p:cNvSpPr/>
          <p:nvPr/>
        </p:nvSpPr>
        <p:spPr>
          <a:xfrm>
            <a:off x="8280400" y="426720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Shape 42"/>
          <p:cNvSpPr/>
          <p:nvPr/>
        </p:nvSpPr>
        <p:spPr>
          <a:xfrm>
            <a:off x="8559800" y="4521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5" name="Text 43"/>
          <p:cNvSpPr/>
          <p:nvPr/>
        </p:nvSpPr>
        <p:spPr>
          <a:xfrm>
            <a:off x="8681641" y="46482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474200" y="4521200"/>
            <a:ext cx="368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(E-Site)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474200" y="5029200"/>
            <a:ext cx="3632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Response System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474200" y="5511800"/>
            <a:ext cx="1104900" cy="355600"/>
          </a:xfrm>
          <a:custGeom>
            <a:avLst/>
            <a:gdLst/>
            <a:ahLst/>
            <a:cxnLst/>
            <a:rect l="l" t="t" r="r" b="b"/>
            <a:pathLst>
              <a:path w="1104900" h="355600">
                <a:moveTo>
                  <a:pt x="0" y="0"/>
                </a:moveTo>
                <a:lnTo>
                  <a:pt x="1104900" y="0"/>
                </a:lnTo>
                <a:lnTo>
                  <a:pt x="11049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474200" y="5511800"/>
            <a:ext cx="11938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VLANs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681229" y="55118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0" y="0"/>
                </a:moveTo>
                <a:lnTo>
                  <a:pt x="1397000" y="0"/>
                </a:lnTo>
                <a:lnTo>
                  <a:pt x="13970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681229" y="5511800"/>
            <a:ext cx="1485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Balance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2175199" y="5511800"/>
            <a:ext cx="825500" cy="355600"/>
          </a:xfrm>
          <a:custGeom>
            <a:avLst/>
            <a:gdLst/>
            <a:ahLst/>
            <a:cxnLst/>
            <a:rect l="l" t="t" r="r" b="b"/>
            <a:pathLst>
              <a:path w="825500" h="355600">
                <a:moveTo>
                  <a:pt x="0" y="0"/>
                </a:moveTo>
                <a:lnTo>
                  <a:pt x="825500" y="0"/>
                </a:lnTo>
                <a:lnTo>
                  <a:pt x="8255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2175199" y="5511800"/>
            <a:ext cx="914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2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3400" y="6375400"/>
            <a:ext cx="15214600" cy="1854200"/>
          </a:xfrm>
          <a:custGeom>
            <a:avLst/>
            <a:gdLst/>
            <a:ahLst/>
            <a:cxnLst/>
            <a:rect l="l" t="t" r="r" b="b"/>
            <a:pathLst>
              <a:path w="15214600" h="1854200">
                <a:moveTo>
                  <a:pt x="0" y="0"/>
                </a:moveTo>
                <a:lnTo>
                  <a:pt x="15214600" y="0"/>
                </a:lnTo>
                <a:lnTo>
                  <a:pt x="152146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/>
        </p:spPr>
      </p:sp>
      <p:sp>
        <p:nvSpPr>
          <p:cNvPr id="55" name="Shape 53"/>
          <p:cNvSpPr/>
          <p:nvPr/>
        </p:nvSpPr>
        <p:spPr>
          <a:xfrm>
            <a:off x="533400" y="637540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6" name="Shape 54"/>
          <p:cNvSpPr/>
          <p:nvPr/>
        </p:nvSpPr>
        <p:spPr>
          <a:xfrm>
            <a:off x="812800" y="6629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7" name="Text 55"/>
          <p:cNvSpPr/>
          <p:nvPr/>
        </p:nvSpPr>
        <p:spPr>
          <a:xfrm>
            <a:off x="937022" y="67564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727200" y="6629400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Distribution System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727200" y="7137400"/>
            <a:ext cx="474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Hub &amp; Security Layer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727200" y="7620000"/>
            <a:ext cx="1333500" cy="355600"/>
          </a:xfrm>
          <a:custGeom>
            <a:avLst/>
            <a:gdLst/>
            <a:ahLst/>
            <a:cxnLst/>
            <a:rect l="l" t="t" r="r" b="b"/>
            <a:pathLst>
              <a:path w="1333500" h="355600">
                <a:moveTo>
                  <a:pt x="0" y="0"/>
                </a:moveTo>
                <a:lnTo>
                  <a:pt x="1333500" y="0"/>
                </a:lnTo>
                <a:lnTo>
                  <a:pt x="13335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727200" y="7620000"/>
            <a:ext cx="1422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Firewall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161242" y="7620000"/>
            <a:ext cx="685800" cy="355600"/>
          </a:xfrm>
          <a:custGeom>
            <a:avLst/>
            <a:gdLst/>
            <a:ahLst/>
            <a:cxnLst/>
            <a:rect l="l" t="t" r="r" b="b"/>
            <a:pathLst>
              <a:path w="685800" h="355600">
                <a:moveTo>
                  <a:pt x="0" y="0"/>
                </a:moveTo>
                <a:lnTo>
                  <a:pt x="685800" y="0"/>
                </a:lnTo>
                <a:lnTo>
                  <a:pt x="685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161242" y="7620000"/>
            <a:ext cx="774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DMZ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952875" y="7620000"/>
            <a:ext cx="673100" cy="355600"/>
          </a:xfrm>
          <a:custGeom>
            <a:avLst/>
            <a:gdLst/>
            <a:ahLst/>
            <a:cxnLst/>
            <a:rect l="l" t="t" r="r" b="b"/>
            <a:pathLst>
              <a:path w="673100" h="355600">
                <a:moveTo>
                  <a:pt x="0" y="0"/>
                </a:moveTo>
                <a:lnTo>
                  <a:pt x="673100" y="0"/>
                </a:lnTo>
                <a:lnTo>
                  <a:pt x="6731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3952875" y="7620000"/>
            <a:ext cx="7620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724929" y="7620000"/>
            <a:ext cx="1651000" cy="355600"/>
          </a:xfrm>
          <a:custGeom>
            <a:avLst/>
            <a:gdLst/>
            <a:ahLst/>
            <a:cxnLst/>
            <a:rect l="l" t="t" r="r" b="b"/>
            <a:pathLst>
              <a:path w="1651000" h="355600">
                <a:moveTo>
                  <a:pt x="0" y="0"/>
                </a:moveTo>
                <a:lnTo>
                  <a:pt x="1651000" y="0"/>
                </a:lnTo>
                <a:lnTo>
                  <a:pt x="16510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724929" y="7620000"/>
            <a:ext cx="1739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Multi-Area OSPF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08000" y="8437033"/>
            <a:ext cx="15240000" cy="8467"/>
          </a:xfrm>
          <a:custGeom>
            <a:avLst/>
            <a:gdLst/>
            <a:ahLst/>
            <a:cxnLst/>
            <a:rect l="l" t="t" r="r" b="b"/>
            <a:pathLst>
              <a:path w="15240000" h="8467">
                <a:moveTo>
                  <a:pt x="0" y="0"/>
                </a:moveTo>
                <a:lnTo>
                  <a:pt x="15240000" y="0"/>
                </a:lnTo>
                <a:lnTo>
                  <a:pt x="152400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3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520700" y="8644468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98425" y="34925"/>
                </a:moveTo>
                <a:lnTo>
                  <a:pt x="130175" y="34925"/>
                </a:lnTo>
                <a:lnTo>
                  <a:pt x="130175" y="53975"/>
                </a:lnTo>
                <a:lnTo>
                  <a:pt x="98425" y="53975"/>
                </a:lnTo>
                <a:lnTo>
                  <a:pt x="98425" y="34925"/>
                </a:lnTo>
                <a:close/>
                <a:moveTo>
                  <a:pt x="95250" y="12700"/>
                </a:moveTo>
                <a:cubicBezTo>
                  <a:pt x="84733" y="12700"/>
                  <a:pt x="76200" y="21233"/>
                  <a:pt x="76200" y="31750"/>
                </a:cubicBezTo>
                <a:lnTo>
                  <a:pt x="76200" y="57150"/>
                </a:lnTo>
                <a:cubicBezTo>
                  <a:pt x="76200" y="67667"/>
                  <a:pt x="84733" y="76200"/>
                  <a:pt x="95250" y="76200"/>
                </a:cubicBezTo>
                <a:lnTo>
                  <a:pt x="101600" y="76200"/>
                </a:lnTo>
                <a:lnTo>
                  <a:pt x="101600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50800" y="114300"/>
                </a:lnTo>
                <a:lnTo>
                  <a:pt x="50800" y="127000"/>
                </a:lnTo>
                <a:lnTo>
                  <a:pt x="44450" y="127000"/>
                </a:lnTo>
                <a:cubicBezTo>
                  <a:pt x="33933" y="127000"/>
                  <a:pt x="25400" y="135533"/>
                  <a:pt x="25400" y="146050"/>
                </a:cubicBezTo>
                <a:lnTo>
                  <a:pt x="25400" y="171450"/>
                </a:lnTo>
                <a:cubicBezTo>
                  <a:pt x="25400" y="181967"/>
                  <a:pt x="33933" y="190500"/>
                  <a:pt x="44450" y="190500"/>
                </a:cubicBezTo>
                <a:lnTo>
                  <a:pt x="82550" y="190500"/>
                </a:lnTo>
                <a:cubicBezTo>
                  <a:pt x="93067" y="190500"/>
                  <a:pt x="101600" y="181967"/>
                  <a:pt x="101600" y="171450"/>
                </a:cubicBezTo>
                <a:lnTo>
                  <a:pt x="101600" y="146050"/>
                </a:lnTo>
                <a:cubicBezTo>
                  <a:pt x="101600" y="135533"/>
                  <a:pt x="93067" y="127000"/>
                  <a:pt x="82550" y="127000"/>
                </a:cubicBezTo>
                <a:lnTo>
                  <a:pt x="76200" y="127000"/>
                </a:lnTo>
                <a:lnTo>
                  <a:pt x="76200" y="114300"/>
                </a:lnTo>
                <a:lnTo>
                  <a:pt x="152400" y="114300"/>
                </a:lnTo>
                <a:lnTo>
                  <a:pt x="152400" y="127000"/>
                </a:lnTo>
                <a:lnTo>
                  <a:pt x="146050" y="127000"/>
                </a:lnTo>
                <a:cubicBezTo>
                  <a:pt x="135533" y="127000"/>
                  <a:pt x="127000" y="135533"/>
                  <a:pt x="127000" y="146050"/>
                </a:cubicBezTo>
                <a:lnTo>
                  <a:pt x="127000" y="171450"/>
                </a:lnTo>
                <a:cubicBezTo>
                  <a:pt x="127000" y="181967"/>
                  <a:pt x="135533" y="190500"/>
                  <a:pt x="146050" y="190500"/>
                </a:cubicBezTo>
                <a:lnTo>
                  <a:pt x="184150" y="190500"/>
                </a:lnTo>
                <a:cubicBezTo>
                  <a:pt x="194667" y="190500"/>
                  <a:pt x="203200" y="181967"/>
                  <a:pt x="203200" y="171450"/>
                </a:cubicBezTo>
                <a:lnTo>
                  <a:pt x="203200" y="146050"/>
                </a:lnTo>
                <a:cubicBezTo>
                  <a:pt x="203200" y="135533"/>
                  <a:pt x="194667" y="127000"/>
                  <a:pt x="184150" y="127000"/>
                </a:cubicBezTo>
                <a:lnTo>
                  <a:pt x="177800" y="127000"/>
                </a:lnTo>
                <a:lnTo>
                  <a:pt x="177800" y="114300"/>
                </a:lnTo>
                <a:lnTo>
                  <a:pt x="215900" y="114300"/>
                </a:lnTo>
                <a:cubicBezTo>
                  <a:pt x="222925" y="114300"/>
                  <a:pt x="228600" y="108625"/>
                  <a:pt x="228600" y="101600"/>
                </a:cubicBezTo>
                <a:cubicBezTo>
                  <a:pt x="228600" y="94575"/>
                  <a:pt x="222925" y="88900"/>
                  <a:pt x="215900" y="88900"/>
                </a:cubicBezTo>
                <a:lnTo>
                  <a:pt x="127000" y="88900"/>
                </a:lnTo>
                <a:lnTo>
                  <a:pt x="127000" y="76200"/>
                </a:lnTo>
                <a:lnTo>
                  <a:pt x="133350" y="76200"/>
                </a:lnTo>
                <a:cubicBezTo>
                  <a:pt x="143867" y="76200"/>
                  <a:pt x="152400" y="67667"/>
                  <a:pt x="152400" y="57150"/>
                </a:cubicBezTo>
                <a:lnTo>
                  <a:pt x="152400" y="31750"/>
                </a:lnTo>
                <a:cubicBezTo>
                  <a:pt x="152400" y="21233"/>
                  <a:pt x="143867" y="12700"/>
                  <a:pt x="133350" y="12700"/>
                </a:cubicBezTo>
                <a:lnTo>
                  <a:pt x="95250" y="12700"/>
                </a:lnTo>
                <a:close/>
                <a:moveTo>
                  <a:pt x="177800" y="149225"/>
                </a:moveTo>
                <a:lnTo>
                  <a:pt x="180975" y="149225"/>
                </a:lnTo>
                <a:lnTo>
                  <a:pt x="180975" y="168275"/>
                </a:lnTo>
                <a:lnTo>
                  <a:pt x="149225" y="168275"/>
                </a:lnTo>
                <a:lnTo>
                  <a:pt x="149225" y="149225"/>
                </a:lnTo>
                <a:lnTo>
                  <a:pt x="177800" y="149225"/>
                </a:lnTo>
                <a:close/>
                <a:moveTo>
                  <a:pt x="76200" y="149225"/>
                </a:moveTo>
                <a:lnTo>
                  <a:pt x="79375" y="149225"/>
                </a:lnTo>
                <a:lnTo>
                  <a:pt x="79375" y="168275"/>
                </a:lnTo>
                <a:lnTo>
                  <a:pt x="47625" y="168275"/>
                </a:lnTo>
                <a:lnTo>
                  <a:pt x="47625" y="149225"/>
                </a:lnTo>
                <a:lnTo>
                  <a:pt x="76200" y="14922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0" name="Text 68"/>
          <p:cNvSpPr/>
          <p:nvPr/>
        </p:nvSpPr>
        <p:spPr>
          <a:xfrm>
            <a:off x="863600" y="8627534"/>
            <a:ext cx="756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Sites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849041" y="864446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6200" y="25400"/>
                </a:moveTo>
                <a:cubicBezTo>
                  <a:pt x="76200" y="18375"/>
                  <a:pt x="81875" y="12700"/>
                  <a:pt x="88900" y="12700"/>
                </a:cubicBezTo>
                <a:lnTo>
                  <a:pt x="114300" y="12700"/>
                </a:lnTo>
                <a:cubicBezTo>
                  <a:pt x="121325" y="12700"/>
                  <a:pt x="127000" y="18375"/>
                  <a:pt x="127000" y="254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111125" y="63500"/>
                </a:lnTo>
                <a:lnTo>
                  <a:pt x="111125" y="88900"/>
                </a:lnTo>
                <a:lnTo>
                  <a:pt x="158750" y="88900"/>
                </a:lnTo>
                <a:cubicBezTo>
                  <a:pt x="174546" y="88900"/>
                  <a:pt x="187325" y="101679"/>
                  <a:pt x="187325" y="117475"/>
                </a:cubicBezTo>
                <a:lnTo>
                  <a:pt x="187325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65100" y="190500"/>
                </a:lnTo>
                <a:cubicBezTo>
                  <a:pt x="158075" y="190500"/>
                  <a:pt x="152400" y="184825"/>
                  <a:pt x="152400" y="177800"/>
                </a:cubicBezTo>
                <a:lnTo>
                  <a:pt x="152400" y="152400"/>
                </a:lnTo>
                <a:cubicBezTo>
                  <a:pt x="152400" y="145375"/>
                  <a:pt x="158075" y="139700"/>
                  <a:pt x="165100" y="139700"/>
                </a:cubicBezTo>
                <a:lnTo>
                  <a:pt x="168275" y="139700"/>
                </a:lnTo>
                <a:lnTo>
                  <a:pt x="168275" y="117475"/>
                </a:lnTo>
                <a:cubicBezTo>
                  <a:pt x="168275" y="112197"/>
                  <a:pt x="164028" y="107950"/>
                  <a:pt x="158750" y="107950"/>
                </a:cubicBezTo>
                <a:lnTo>
                  <a:pt x="111125" y="107950"/>
                </a:lnTo>
                <a:lnTo>
                  <a:pt x="111125" y="139700"/>
                </a:lnTo>
                <a:lnTo>
                  <a:pt x="114300" y="139700"/>
                </a:lnTo>
                <a:cubicBezTo>
                  <a:pt x="121325" y="139700"/>
                  <a:pt x="127000" y="145375"/>
                  <a:pt x="127000" y="152400"/>
                </a:cubicBezTo>
                <a:lnTo>
                  <a:pt x="127000" y="177800"/>
                </a:lnTo>
                <a:cubicBezTo>
                  <a:pt x="127000" y="184825"/>
                  <a:pt x="121325" y="190500"/>
                  <a:pt x="114300" y="190500"/>
                </a:cubicBezTo>
                <a:lnTo>
                  <a:pt x="88900" y="190500"/>
                </a:lnTo>
                <a:cubicBezTo>
                  <a:pt x="81875" y="190500"/>
                  <a:pt x="76200" y="184825"/>
                  <a:pt x="76200" y="177800"/>
                </a:cubicBezTo>
                <a:lnTo>
                  <a:pt x="76200" y="152400"/>
                </a:lnTo>
                <a:cubicBezTo>
                  <a:pt x="76200" y="145375"/>
                  <a:pt x="81875" y="139700"/>
                  <a:pt x="88900" y="139700"/>
                </a:cubicBezTo>
                <a:lnTo>
                  <a:pt x="92075" y="139700"/>
                </a:lnTo>
                <a:lnTo>
                  <a:pt x="92075" y="107950"/>
                </a:lnTo>
                <a:lnTo>
                  <a:pt x="44450" y="107950"/>
                </a:lnTo>
                <a:cubicBezTo>
                  <a:pt x="39172" y="107950"/>
                  <a:pt x="34925" y="112197"/>
                  <a:pt x="34925" y="117475"/>
                </a:cubicBezTo>
                <a:lnTo>
                  <a:pt x="34925" y="139700"/>
                </a:lnTo>
                <a:lnTo>
                  <a:pt x="38100" y="139700"/>
                </a:lnTo>
                <a:cubicBezTo>
                  <a:pt x="45125" y="139700"/>
                  <a:pt x="50800" y="145375"/>
                  <a:pt x="50800" y="152400"/>
                </a:cubicBezTo>
                <a:lnTo>
                  <a:pt x="50800" y="177800"/>
                </a:lnTo>
                <a:cubicBezTo>
                  <a:pt x="50800" y="184825"/>
                  <a:pt x="45125" y="190500"/>
                  <a:pt x="381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52400"/>
                </a:lnTo>
                <a:cubicBezTo>
                  <a:pt x="0" y="145375"/>
                  <a:pt x="5675" y="139700"/>
                  <a:pt x="12700" y="139700"/>
                </a:cubicBezTo>
                <a:lnTo>
                  <a:pt x="15875" y="139700"/>
                </a:lnTo>
                <a:lnTo>
                  <a:pt x="15875" y="117475"/>
                </a:lnTo>
                <a:cubicBezTo>
                  <a:pt x="15875" y="101679"/>
                  <a:pt x="28654" y="88900"/>
                  <a:pt x="44450" y="88900"/>
                </a:cubicBezTo>
                <a:lnTo>
                  <a:pt x="92075" y="88900"/>
                </a:lnTo>
                <a:lnTo>
                  <a:pt x="92075" y="63500"/>
                </a:lnTo>
                <a:lnTo>
                  <a:pt x="88900" y="63500"/>
                </a:lnTo>
                <a:cubicBezTo>
                  <a:pt x="81875" y="63500"/>
                  <a:pt x="76200" y="57825"/>
                  <a:pt x="76200" y="50800"/>
                </a:cubicBezTo>
                <a:lnTo>
                  <a:pt x="76200" y="2540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2" name="Text 70"/>
          <p:cNvSpPr/>
          <p:nvPr/>
        </p:nvSpPr>
        <p:spPr>
          <a:xfrm>
            <a:off x="2179241" y="8627534"/>
            <a:ext cx="1445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OSPF Areas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853524" y="864446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4" name="Text 72"/>
          <p:cNvSpPr/>
          <p:nvPr/>
        </p:nvSpPr>
        <p:spPr>
          <a:xfrm>
            <a:off x="4183724" y="8627534"/>
            <a:ext cx="2743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Single Point of Failure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63f84925f2c925aeb900d3023f381148f65ade6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3400" y="2743200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4ECD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6138" y="3073400"/>
            <a:ext cx="1409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0" y="29210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4"/>
          <p:cNvSpPr/>
          <p:nvPr/>
        </p:nvSpPr>
        <p:spPr>
          <a:xfrm>
            <a:off x="2997200" y="1892300"/>
            <a:ext cx="668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Head Quarter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Network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97200" y="3924300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6"/>
          <p:cNvSpPr/>
          <p:nvPr/>
        </p:nvSpPr>
        <p:spPr>
          <a:xfrm>
            <a:off x="2997200" y="4178300"/>
            <a:ext cx="703354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Enterprise-level core infrastructure with 9 VLANs,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dual redundancy, and comprehensive services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57785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863600" y="5778500"/>
            <a:ext cx="271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" y="64897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VLANs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" y="6896100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segmentation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08255" y="57785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3938455" y="5778500"/>
            <a:ext cx="271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38455" y="64897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Switches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38455" y="6896100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Active-Standby HSRP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683111" y="57785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Text 16"/>
          <p:cNvSpPr/>
          <p:nvPr/>
        </p:nvSpPr>
        <p:spPr>
          <a:xfrm>
            <a:off x="7013311" y="5778500"/>
            <a:ext cx="271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13311" y="64897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Servers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13311" y="6896100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service stack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1394" y="481394"/>
            <a:ext cx="1822136" cy="401825"/>
          </a:xfrm>
          <a:custGeom>
            <a:avLst/>
            <a:gdLst/>
            <a:ahLst/>
            <a:cxnLst/>
            <a:rect l="l" t="t" r="r" b="b"/>
            <a:pathLst>
              <a:path w="1822136" h="401825">
                <a:moveTo>
                  <a:pt x="0" y="0"/>
                </a:moveTo>
                <a:lnTo>
                  <a:pt x="1822136" y="0"/>
                </a:lnTo>
                <a:lnTo>
                  <a:pt x="1822136" y="401825"/>
                </a:lnTo>
                <a:lnTo>
                  <a:pt x="0" y="4018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8597" y="541073"/>
            <a:ext cx="1627440" cy="278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kern="0" spc="75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 QUARTER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7416" y="978702"/>
            <a:ext cx="15516006" cy="47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8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HQ: Network Core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7416" y="1551601"/>
            <a:ext cx="15408587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3-tier design with dual redundancy at every layer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1394" y="2080736"/>
            <a:ext cx="7551123" cy="6429196"/>
          </a:xfrm>
          <a:custGeom>
            <a:avLst/>
            <a:gdLst/>
            <a:ahLst/>
            <a:cxnLst/>
            <a:rect l="l" t="t" r="r" b="b"/>
            <a:pathLst>
              <a:path w="7551123" h="6429196">
                <a:moveTo>
                  <a:pt x="0" y="0"/>
                </a:moveTo>
                <a:lnTo>
                  <a:pt x="7551123" y="0"/>
                </a:lnTo>
                <a:lnTo>
                  <a:pt x="7551123" y="6429196"/>
                </a:lnTo>
                <a:lnTo>
                  <a:pt x="0" y="6429196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6177" y="2323423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108398" y="2424"/>
                </a:moveTo>
                <a:cubicBezTo>
                  <a:pt x="115344" y="-793"/>
                  <a:pt x="123363" y="-793"/>
                  <a:pt x="130310" y="2424"/>
                </a:cubicBezTo>
                <a:lnTo>
                  <a:pt x="232227" y="49513"/>
                </a:lnTo>
                <a:cubicBezTo>
                  <a:pt x="236190" y="51331"/>
                  <a:pt x="238708" y="55294"/>
                  <a:pt x="238708" y="59677"/>
                </a:cubicBezTo>
                <a:cubicBezTo>
                  <a:pt x="238708" y="64059"/>
                  <a:pt x="236190" y="68022"/>
                  <a:pt x="232227" y="69841"/>
                </a:cubicBezTo>
                <a:lnTo>
                  <a:pt x="130310" y="116930"/>
                </a:lnTo>
                <a:cubicBezTo>
                  <a:pt x="123363" y="120146"/>
                  <a:pt x="115344" y="120146"/>
                  <a:pt x="108398" y="116930"/>
                </a:cubicBezTo>
                <a:lnTo>
                  <a:pt x="6481" y="69841"/>
                </a:lnTo>
                <a:cubicBezTo>
                  <a:pt x="2518" y="67976"/>
                  <a:pt x="0" y="64013"/>
                  <a:pt x="0" y="59677"/>
                </a:cubicBezTo>
                <a:cubicBezTo>
                  <a:pt x="0" y="55341"/>
                  <a:pt x="2518" y="51331"/>
                  <a:pt x="6481" y="49513"/>
                </a:cubicBezTo>
                <a:lnTo>
                  <a:pt x="108398" y="2424"/>
                </a:lnTo>
                <a:close/>
                <a:moveTo>
                  <a:pt x="22425" y="101824"/>
                </a:moveTo>
                <a:lnTo>
                  <a:pt x="99026" y="137210"/>
                </a:lnTo>
                <a:cubicBezTo>
                  <a:pt x="111941" y="143178"/>
                  <a:pt x="126814" y="143178"/>
                  <a:pt x="139728" y="137210"/>
                </a:cubicBezTo>
                <a:lnTo>
                  <a:pt x="216329" y="101824"/>
                </a:lnTo>
                <a:lnTo>
                  <a:pt x="232227" y="109190"/>
                </a:lnTo>
                <a:cubicBezTo>
                  <a:pt x="236190" y="111008"/>
                  <a:pt x="238708" y="114971"/>
                  <a:pt x="238708" y="119354"/>
                </a:cubicBezTo>
                <a:cubicBezTo>
                  <a:pt x="238708" y="123736"/>
                  <a:pt x="236190" y="127699"/>
                  <a:pt x="232227" y="129518"/>
                </a:cubicBezTo>
                <a:lnTo>
                  <a:pt x="130310" y="176606"/>
                </a:lnTo>
                <a:cubicBezTo>
                  <a:pt x="123363" y="179823"/>
                  <a:pt x="115344" y="179823"/>
                  <a:pt x="108398" y="176606"/>
                </a:cubicBezTo>
                <a:lnTo>
                  <a:pt x="6481" y="129518"/>
                </a:lnTo>
                <a:cubicBezTo>
                  <a:pt x="2518" y="127653"/>
                  <a:pt x="0" y="123690"/>
                  <a:pt x="0" y="119354"/>
                </a:cubicBezTo>
                <a:cubicBezTo>
                  <a:pt x="0" y="115018"/>
                  <a:pt x="2518" y="111008"/>
                  <a:pt x="6481" y="109190"/>
                </a:cubicBezTo>
                <a:lnTo>
                  <a:pt x="22379" y="101824"/>
                </a:lnTo>
                <a:close/>
                <a:moveTo>
                  <a:pt x="6481" y="168867"/>
                </a:moveTo>
                <a:lnTo>
                  <a:pt x="22379" y="161501"/>
                </a:lnTo>
                <a:lnTo>
                  <a:pt x="98980" y="196887"/>
                </a:lnTo>
                <a:cubicBezTo>
                  <a:pt x="111894" y="202855"/>
                  <a:pt x="126767" y="202855"/>
                  <a:pt x="139681" y="196887"/>
                </a:cubicBezTo>
                <a:lnTo>
                  <a:pt x="216282" y="161501"/>
                </a:lnTo>
                <a:lnTo>
                  <a:pt x="232181" y="168867"/>
                </a:lnTo>
                <a:cubicBezTo>
                  <a:pt x="236144" y="170685"/>
                  <a:pt x="238661" y="174648"/>
                  <a:pt x="238661" y="179031"/>
                </a:cubicBezTo>
                <a:cubicBezTo>
                  <a:pt x="238661" y="183413"/>
                  <a:pt x="236144" y="187376"/>
                  <a:pt x="232181" y="189195"/>
                </a:cubicBezTo>
                <a:lnTo>
                  <a:pt x="130264" y="236283"/>
                </a:lnTo>
                <a:cubicBezTo>
                  <a:pt x="123317" y="239500"/>
                  <a:pt x="115298" y="239500"/>
                  <a:pt x="108351" y="236283"/>
                </a:cubicBezTo>
                <a:lnTo>
                  <a:pt x="6481" y="189195"/>
                </a:lnTo>
                <a:cubicBezTo>
                  <a:pt x="2518" y="187330"/>
                  <a:pt x="0" y="183367"/>
                  <a:pt x="0" y="179031"/>
                </a:cubicBezTo>
                <a:cubicBezTo>
                  <a:pt x="0" y="174695"/>
                  <a:pt x="2518" y="170685"/>
                  <a:pt x="6481" y="16886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974723" y="2275682"/>
            <a:ext cx="6982203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Layer Infrastructure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2253" y="2753097"/>
            <a:ext cx="31828" cy="668382"/>
          </a:xfrm>
          <a:custGeom>
            <a:avLst/>
            <a:gdLst/>
            <a:ahLst/>
            <a:cxnLst/>
            <a:rect l="l" t="t" r="r" b="b"/>
            <a:pathLst>
              <a:path w="31828" h="668382">
                <a:moveTo>
                  <a:pt x="0" y="0"/>
                </a:moveTo>
                <a:lnTo>
                  <a:pt x="31828" y="0"/>
                </a:lnTo>
                <a:lnTo>
                  <a:pt x="31828" y="668382"/>
                </a:lnTo>
                <a:lnTo>
                  <a:pt x="0" y="66838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899133" y="2753097"/>
            <a:ext cx="7041880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Core-Active (Primary L3 Switch)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9133" y="3135030"/>
            <a:ext cx="7029944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 ID: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1.1.1.1 | </a:t>
            </a: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HSRP Priority: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110 (Active)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2253" y="3564704"/>
            <a:ext cx="31828" cy="668382"/>
          </a:xfrm>
          <a:custGeom>
            <a:avLst/>
            <a:gdLst/>
            <a:ahLst/>
            <a:cxnLst/>
            <a:rect l="l" t="t" r="r" b="b"/>
            <a:pathLst>
              <a:path w="31828" h="668382">
                <a:moveTo>
                  <a:pt x="0" y="0"/>
                </a:moveTo>
                <a:lnTo>
                  <a:pt x="31828" y="0"/>
                </a:lnTo>
                <a:lnTo>
                  <a:pt x="31828" y="668382"/>
                </a:lnTo>
                <a:lnTo>
                  <a:pt x="0" y="668382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3" name="Text 11"/>
          <p:cNvSpPr/>
          <p:nvPr/>
        </p:nvSpPr>
        <p:spPr>
          <a:xfrm>
            <a:off x="899133" y="3564704"/>
            <a:ext cx="7041880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Core-Standby (Backup L3 Switch)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9133" y="3946636"/>
            <a:ext cx="7029944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 ID: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5.5.5.5 | </a:t>
            </a: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HSRP Priority: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90 (Standby)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0317" y="4380289"/>
            <a:ext cx="7145320" cy="1678911"/>
          </a:xfrm>
          <a:custGeom>
            <a:avLst/>
            <a:gdLst/>
            <a:ahLst/>
            <a:cxnLst/>
            <a:rect l="l" t="t" r="r" b="b"/>
            <a:pathLst>
              <a:path w="7145320" h="1678911">
                <a:moveTo>
                  <a:pt x="0" y="0"/>
                </a:moveTo>
                <a:lnTo>
                  <a:pt x="7145320" y="0"/>
                </a:lnTo>
                <a:lnTo>
                  <a:pt x="7145320" y="1678911"/>
                </a:lnTo>
                <a:lnTo>
                  <a:pt x="0" y="167891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20" y="4527493"/>
            <a:ext cx="6958332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LACP Port-Channel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20" y="4957167"/>
            <a:ext cx="69463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3x GigabitEthernet links bundled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20" y="5291358"/>
            <a:ext cx="69463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Load balancing &amp; redundancy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20" y="5625549"/>
            <a:ext cx="69463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 Gbps aggregate bandwidth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6177" y="6301885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238708" y="44758"/>
                </a:moveTo>
                <a:cubicBezTo>
                  <a:pt x="238708" y="68162"/>
                  <a:pt x="211154" y="103083"/>
                  <a:pt x="199265" y="117023"/>
                </a:cubicBezTo>
                <a:cubicBezTo>
                  <a:pt x="197493" y="119074"/>
                  <a:pt x="194883" y="119867"/>
                  <a:pt x="192505" y="119354"/>
                </a:cubicBezTo>
                <a:lnTo>
                  <a:pt x="149192" y="119354"/>
                </a:lnTo>
                <a:cubicBezTo>
                  <a:pt x="140940" y="119354"/>
                  <a:pt x="134273" y="126021"/>
                  <a:pt x="134273" y="134273"/>
                </a:cubicBezTo>
                <a:cubicBezTo>
                  <a:pt x="134273" y="142525"/>
                  <a:pt x="140940" y="149192"/>
                  <a:pt x="149192" y="149192"/>
                </a:cubicBezTo>
                <a:lnTo>
                  <a:pt x="193950" y="149192"/>
                </a:lnTo>
                <a:cubicBezTo>
                  <a:pt x="218660" y="149192"/>
                  <a:pt x="238708" y="169240"/>
                  <a:pt x="238708" y="193950"/>
                </a:cubicBezTo>
                <a:cubicBezTo>
                  <a:pt x="238708" y="218660"/>
                  <a:pt x="218660" y="238708"/>
                  <a:pt x="193950" y="238708"/>
                </a:cubicBezTo>
                <a:lnTo>
                  <a:pt x="65085" y="238708"/>
                </a:lnTo>
                <a:cubicBezTo>
                  <a:pt x="69141" y="234092"/>
                  <a:pt x="74083" y="228171"/>
                  <a:pt x="79072" y="221551"/>
                </a:cubicBezTo>
                <a:cubicBezTo>
                  <a:pt x="82009" y="217634"/>
                  <a:pt x="85040" y="213345"/>
                  <a:pt x="87930" y="208869"/>
                </a:cubicBezTo>
                <a:lnTo>
                  <a:pt x="193950" y="208869"/>
                </a:lnTo>
                <a:cubicBezTo>
                  <a:pt x="202202" y="208869"/>
                  <a:pt x="208869" y="202202"/>
                  <a:pt x="208869" y="193950"/>
                </a:cubicBezTo>
                <a:cubicBezTo>
                  <a:pt x="208869" y="185698"/>
                  <a:pt x="202202" y="179031"/>
                  <a:pt x="193950" y="179031"/>
                </a:cubicBezTo>
                <a:lnTo>
                  <a:pt x="149192" y="179031"/>
                </a:lnTo>
                <a:cubicBezTo>
                  <a:pt x="124482" y="179031"/>
                  <a:pt x="104435" y="158983"/>
                  <a:pt x="104435" y="134273"/>
                </a:cubicBezTo>
                <a:cubicBezTo>
                  <a:pt x="104435" y="109563"/>
                  <a:pt x="124482" y="89515"/>
                  <a:pt x="149192" y="89515"/>
                </a:cubicBezTo>
                <a:lnTo>
                  <a:pt x="167748" y="89515"/>
                </a:lnTo>
                <a:cubicBezTo>
                  <a:pt x="157957" y="74829"/>
                  <a:pt x="149192" y="57952"/>
                  <a:pt x="149192" y="44758"/>
                </a:cubicBezTo>
                <a:cubicBezTo>
                  <a:pt x="149192" y="20048"/>
                  <a:pt x="169240" y="0"/>
                  <a:pt x="193950" y="0"/>
                </a:cubicBezTo>
                <a:cubicBezTo>
                  <a:pt x="218660" y="0"/>
                  <a:pt x="238708" y="20048"/>
                  <a:pt x="238708" y="44758"/>
                </a:cubicBezTo>
                <a:close/>
                <a:moveTo>
                  <a:pt x="54595" y="228031"/>
                </a:moveTo>
                <a:cubicBezTo>
                  <a:pt x="52823" y="230036"/>
                  <a:pt x="51238" y="231808"/>
                  <a:pt x="49886" y="233300"/>
                </a:cubicBezTo>
                <a:lnTo>
                  <a:pt x="49047" y="234232"/>
                </a:lnTo>
                <a:lnTo>
                  <a:pt x="48954" y="234139"/>
                </a:lnTo>
                <a:cubicBezTo>
                  <a:pt x="46156" y="236283"/>
                  <a:pt x="42147" y="236004"/>
                  <a:pt x="39629" y="233300"/>
                </a:cubicBezTo>
                <a:cubicBezTo>
                  <a:pt x="27880" y="220525"/>
                  <a:pt x="0" y="187656"/>
                  <a:pt x="0" y="164112"/>
                </a:cubicBezTo>
                <a:cubicBezTo>
                  <a:pt x="0" y="139402"/>
                  <a:pt x="20048" y="119354"/>
                  <a:pt x="44758" y="119354"/>
                </a:cubicBezTo>
                <a:cubicBezTo>
                  <a:pt x="69468" y="119354"/>
                  <a:pt x="89515" y="139402"/>
                  <a:pt x="89515" y="164112"/>
                </a:cubicBezTo>
                <a:cubicBezTo>
                  <a:pt x="89515" y="178098"/>
                  <a:pt x="79678" y="195349"/>
                  <a:pt x="69235" y="209755"/>
                </a:cubicBezTo>
                <a:cubicBezTo>
                  <a:pt x="64246" y="216609"/>
                  <a:pt x="59117" y="222809"/>
                  <a:pt x="54875" y="227705"/>
                </a:cubicBezTo>
                <a:lnTo>
                  <a:pt x="54595" y="228031"/>
                </a:lnTo>
                <a:close/>
                <a:moveTo>
                  <a:pt x="59677" y="164112"/>
                </a:moveTo>
                <a:cubicBezTo>
                  <a:pt x="59677" y="155877"/>
                  <a:pt x="52992" y="149192"/>
                  <a:pt x="44758" y="149192"/>
                </a:cubicBezTo>
                <a:cubicBezTo>
                  <a:pt x="36524" y="149192"/>
                  <a:pt x="29838" y="155877"/>
                  <a:pt x="29838" y="164112"/>
                </a:cubicBezTo>
                <a:cubicBezTo>
                  <a:pt x="29838" y="172346"/>
                  <a:pt x="36524" y="179031"/>
                  <a:pt x="44758" y="179031"/>
                </a:cubicBezTo>
                <a:cubicBezTo>
                  <a:pt x="52992" y="179031"/>
                  <a:pt x="59677" y="172346"/>
                  <a:pt x="59677" y="164112"/>
                </a:cubicBezTo>
                <a:close/>
                <a:moveTo>
                  <a:pt x="193950" y="59677"/>
                </a:moveTo>
                <a:cubicBezTo>
                  <a:pt x="202184" y="59677"/>
                  <a:pt x="208869" y="52992"/>
                  <a:pt x="208869" y="44758"/>
                </a:cubicBezTo>
                <a:cubicBezTo>
                  <a:pt x="208869" y="36524"/>
                  <a:pt x="202184" y="29838"/>
                  <a:pt x="193950" y="29838"/>
                </a:cubicBezTo>
                <a:cubicBezTo>
                  <a:pt x="185716" y="29838"/>
                  <a:pt x="179031" y="36524"/>
                  <a:pt x="179031" y="44758"/>
                </a:cubicBezTo>
                <a:cubicBezTo>
                  <a:pt x="179031" y="52992"/>
                  <a:pt x="185716" y="59677"/>
                  <a:pt x="193950" y="5967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974723" y="6254144"/>
            <a:ext cx="6982203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Routing Layer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2253" y="6731559"/>
            <a:ext cx="31828" cy="668382"/>
          </a:xfrm>
          <a:custGeom>
            <a:avLst/>
            <a:gdLst/>
            <a:ahLst/>
            <a:cxnLst/>
            <a:rect l="l" t="t" r="r" b="b"/>
            <a:pathLst>
              <a:path w="31828" h="668382">
                <a:moveTo>
                  <a:pt x="0" y="0"/>
                </a:moveTo>
                <a:lnTo>
                  <a:pt x="31828" y="0"/>
                </a:lnTo>
                <a:lnTo>
                  <a:pt x="31828" y="668382"/>
                </a:lnTo>
                <a:lnTo>
                  <a:pt x="0" y="66838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1"/>
          <p:cNvSpPr/>
          <p:nvPr/>
        </p:nvSpPr>
        <p:spPr>
          <a:xfrm>
            <a:off x="899133" y="6731559"/>
            <a:ext cx="7041880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HQ-Router (Main Router)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9133" y="7113492"/>
            <a:ext cx="7029944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 ID: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3.3.3.3 | Internet connectivity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2253" y="7543166"/>
            <a:ext cx="31828" cy="668382"/>
          </a:xfrm>
          <a:custGeom>
            <a:avLst/>
            <a:gdLst/>
            <a:ahLst/>
            <a:cxnLst/>
            <a:rect l="l" t="t" r="r" b="b"/>
            <a:pathLst>
              <a:path w="31828" h="668382">
                <a:moveTo>
                  <a:pt x="0" y="0"/>
                </a:moveTo>
                <a:lnTo>
                  <a:pt x="31828" y="0"/>
                </a:lnTo>
                <a:lnTo>
                  <a:pt x="31828" y="668382"/>
                </a:lnTo>
                <a:lnTo>
                  <a:pt x="0" y="668382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6" name="Text 24"/>
          <p:cNvSpPr/>
          <p:nvPr/>
        </p:nvSpPr>
        <p:spPr>
          <a:xfrm>
            <a:off x="899133" y="7543166"/>
            <a:ext cx="7041880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Standby-HQ (Backup Router)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9133" y="7925098"/>
            <a:ext cx="7029944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 ID: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4.4.4.4 | Redundant internet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6094" y="2080736"/>
            <a:ext cx="7551123" cy="3982442"/>
          </a:xfrm>
          <a:custGeom>
            <a:avLst/>
            <a:gdLst/>
            <a:ahLst/>
            <a:cxnLst/>
            <a:rect l="l" t="t" r="r" b="b"/>
            <a:pathLst>
              <a:path w="7551123" h="3982442">
                <a:moveTo>
                  <a:pt x="0" y="0"/>
                </a:moveTo>
                <a:lnTo>
                  <a:pt x="7551123" y="0"/>
                </a:lnTo>
                <a:lnTo>
                  <a:pt x="7551123" y="3982442"/>
                </a:lnTo>
                <a:lnTo>
                  <a:pt x="0" y="3982442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0878" y="2323423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0" y="37298"/>
                </a:moveTo>
                <a:cubicBezTo>
                  <a:pt x="0" y="24943"/>
                  <a:pt x="10024" y="14919"/>
                  <a:pt x="22379" y="14919"/>
                </a:cubicBezTo>
                <a:lnTo>
                  <a:pt x="67137" y="14919"/>
                </a:lnTo>
                <a:cubicBezTo>
                  <a:pt x="79492" y="14919"/>
                  <a:pt x="89515" y="24943"/>
                  <a:pt x="89515" y="37298"/>
                </a:cubicBezTo>
                <a:lnTo>
                  <a:pt x="89515" y="44758"/>
                </a:lnTo>
                <a:lnTo>
                  <a:pt x="149192" y="44758"/>
                </a:lnTo>
                <a:lnTo>
                  <a:pt x="149192" y="37298"/>
                </a:lnTo>
                <a:cubicBezTo>
                  <a:pt x="149192" y="24943"/>
                  <a:pt x="159216" y="14919"/>
                  <a:pt x="171571" y="14919"/>
                </a:cubicBezTo>
                <a:lnTo>
                  <a:pt x="216329" y="14919"/>
                </a:lnTo>
                <a:cubicBezTo>
                  <a:pt x="228684" y="14919"/>
                  <a:pt x="238708" y="24943"/>
                  <a:pt x="238708" y="37298"/>
                </a:cubicBezTo>
                <a:lnTo>
                  <a:pt x="238708" y="82056"/>
                </a:lnTo>
                <a:cubicBezTo>
                  <a:pt x="238708" y="94411"/>
                  <a:pt x="228684" y="104435"/>
                  <a:pt x="216329" y="104435"/>
                </a:cubicBezTo>
                <a:lnTo>
                  <a:pt x="171571" y="104435"/>
                </a:lnTo>
                <a:cubicBezTo>
                  <a:pt x="159216" y="104435"/>
                  <a:pt x="149192" y="94411"/>
                  <a:pt x="149192" y="82056"/>
                </a:cubicBezTo>
                <a:lnTo>
                  <a:pt x="149192" y="74596"/>
                </a:lnTo>
                <a:lnTo>
                  <a:pt x="89515" y="74596"/>
                </a:lnTo>
                <a:lnTo>
                  <a:pt x="89515" y="82056"/>
                </a:lnTo>
                <a:cubicBezTo>
                  <a:pt x="89515" y="85459"/>
                  <a:pt x="88723" y="88723"/>
                  <a:pt x="87371" y="91613"/>
                </a:cubicBezTo>
                <a:lnTo>
                  <a:pt x="119354" y="134273"/>
                </a:lnTo>
                <a:lnTo>
                  <a:pt x="156652" y="134273"/>
                </a:lnTo>
                <a:cubicBezTo>
                  <a:pt x="169007" y="134273"/>
                  <a:pt x="179031" y="144297"/>
                  <a:pt x="179031" y="156652"/>
                </a:cubicBezTo>
                <a:lnTo>
                  <a:pt x="179031" y="201410"/>
                </a:lnTo>
                <a:cubicBezTo>
                  <a:pt x="179031" y="213765"/>
                  <a:pt x="169007" y="223789"/>
                  <a:pt x="156652" y="223789"/>
                </a:cubicBezTo>
                <a:lnTo>
                  <a:pt x="111894" y="223789"/>
                </a:lnTo>
                <a:cubicBezTo>
                  <a:pt x="99539" y="223789"/>
                  <a:pt x="89515" y="213765"/>
                  <a:pt x="89515" y="201410"/>
                </a:cubicBezTo>
                <a:lnTo>
                  <a:pt x="89515" y="156652"/>
                </a:lnTo>
                <a:cubicBezTo>
                  <a:pt x="89515" y="153249"/>
                  <a:pt x="90308" y="149985"/>
                  <a:pt x="91660" y="147094"/>
                </a:cubicBezTo>
                <a:lnTo>
                  <a:pt x="59677" y="104435"/>
                </a:lnTo>
                <a:lnTo>
                  <a:pt x="22379" y="104435"/>
                </a:lnTo>
                <a:cubicBezTo>
                  <a:pt x="10024" y="104435"/>
                  <a:pt x="0" y="94411"/>
                  <a:pt x="0" y="82056"/>
                </a:cubicBezTo>
                <a:lnTo>
                  <a:pt x="0" y="3729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8719424" y="2275682"/>
            <a:ext cx="6982203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OSPF Configuration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25018" y="2757076"/>
            <a:ext cx="7145320" cy="1583428"/>
          </a:xfrm>
          <a:custGeom>
            <a:avLst/>
            <a:gdLst/>
            <a:ahLst/>
            <a:cxnLst/>
            <a:rect l="l" t="t" r="r" b="b"/>
            <a:pathLst>
              <a:path w="7145320" h="1583428">
                <a:moveTo>
                  <a:pt x="0" y="0"/>
                </a:moveTo>
                <a:lnTo>
                  <a:pt x="7145320" y="0"/>
                </a:lnTo>
                <a:lnTo>
                  <a:pt x="7145320" y="1583428"/>
                </a:lnTo>
                <a:lnTo>
                  <a:pt x="0" y="158342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2220" y="2904280"/>
            <a:ext cx="6958332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0 (Backbone)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72220" y="3333954"/>
            <a:ext cx="69463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4 routers in OSPF domain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72220" y="3620403"/>
            <a:ext cx="69463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Passive interfaces on host networks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2220" y="3906853"/>
            <a:ext cx="69463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Point-to-point network types on links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25018" y="4491685"/>
            <a:ext cx="3493091" cy="1058271"/>
          </a:xfrm>
          <a:custGeom>
            <a:avLst/>
            <a:gdLst/>
            <a:ahLst/>
            <a:cxnLst/>
            <a:rect l="l" t="t" r="r" b="b"/>
            <a:pathLst>
              <a:path w="3493091" h="1058271">
                <a:moveTo>
                  <a:pt x="0" y="0"/>
                </a:moveTo>
                <a:lnTo>
                  <a:pt x="3493091" y="0"/>
                </a:lnTo>
                <a:lnTo>
                  <a:pt x="3493091" y="1058271"/>
                </a:lnTo>
                <a:lnTo>
                  <a:pt x="0" y="105827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2705" y="4638889"/>
            <a:ext cx="3377715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19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24479" y="5116304"/>
            <a:ext cx="3294167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OSPF Routers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074511" y="4491685"/>
            <a:ext cx="3493091" cy="1058271"/>
          </a:xfrm>
          <a:custGeom>
            <a:avLst/>
            <a:gdLst/>
            <a:ahLst/>
            <a:cxnLst/>
            <a:rect l="l" t="t" r="r" b="b"/>
            <a:pathLst>
              <a:path w="3493091" h="1058271">
                <a:moveTo>
                  <a:pt x="0" y="0"/>
                </a:moveTo>
                <a:lnTo>
                  <a:pt x="3493091" y="0"/>
                </a:lnTo>
                <a:lnTo>
                  <a:pt x="3493091" y="1058271"/>
                </a:lnTo>
                <a:lnTo>
                  <a:pt x="0" y="105827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132199" y="4638889"/>
            <a:ext cx="3377715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19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173973" y="5116304"/>
            <a:ext cx="3294167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 Networks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6094" y="6213615"/>
            <a:ext cx="7551123" cy="2299552"/>
          </a:xfrm>
          <a:custGeom>
            <a:avLst/>
            <a:gdLst/>
            <a:ahLst/>
            <a:cxnLst/>
            <a:rect l="l" t="t" r="r" b="b"/>
            <a:pathLst>
              <a:path w="7551123" h="2299552">
                <a:moveTo>
                  <a:pt x="0" y="0"/>
                </a:moveTo>
                <a:lnTo>
                  <a:pt x="7551123" y="0"/>
                </a:lnTo>
                <a:lnTo>
                  <a:pt x="7551123" y="2299552"/>
                </a:lnTo>
                <a:lnTo>
                  <a:pt x="0" y="2299552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50878" y="6456300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119354" y="0"/>
                </a:moveTo>
                <a:cubicBezTo>
                  <a:pt x="121499" y="0"/>
                  <a:pt x="123643" y="466"/>
                  <a:pt x="125601" y="1352"/>
                </a:cubicBezTo>
                <a:lnTo>
                  <a:pt x="213438" y="38604"/>
                </a:lnTo>
                <a:cubicBezTo>
                  <a:pt x="223695" y="42939"/>
                  <a:pt x="231341" y="53057"/>
                  <a:pt x="231295" y="65272"/>
                </a:cubicBezTo>
                <a:cubicBezTo>
                  <a:pt x="231062" y="111521"/>
                  <a:pt x="212040" y="196141"/>
                  <a:pt x="131709" y="234605"/>
                </a:cubicBezTo>
                <a:cubicBezTo>
                  <a:pt x="123923" y="238335"/>
                  <a:pt x="114878" y="238335"/>
                  <a:pt x="107092" y="234605"/>
                </a:cubicBezTo>
                <a:cubicBezTo>
                  <a:pt x="26715" y="196141"/>
                  <a:pt x="7739" y="111521"/>
                  <a:pt x="7506" y="65272"/>
                </a:cubicBezTo>
                <a:cubicBezTo>
                  <a:pt x="7460" y="53057"/>
                  <a:pt x="15106" y="42939"/>
                  <a:pt x="25363" y="38604"/>
                </a:cubicBezTo>
                <a:lnTo>
                  <a:pt x="113153" y="1352"/>
                </a:lnTo>
                <a:cubicBezTo>
                  <a:pt x="115111" y="466"/>
                  <a:pt x="117209" y="0"/>
                  <a:pt x="119354" y="0"/>
                </a:cubicBezTo>
                <a:close/>
                <a:moveTo>
                  <a:pt x="119354" y="31144"/>
                </a:moveTo>
                <a:lnTo>
                  <a:pt x="119354" y="207424"/>
                </a:lnTo>
                <a:cubicBezTo>
                  <a:pt x="183693" y="176280"/>
                  <a:pt x="200990" y="107279"/>
                  <a:pt x="201410" y="65971"/>
                </a:cubicBezTo>
                <a:lnTo>
                  <a:pt x="119354" y="31191"/>
                </a:lnTo>
                <a:lnTo>
                  <a:pt x="119354" y="3119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Text 42"/>
          <p:cNvSpPr/>
          <p:nvPr/>
        </p:nvSpPr>
        <p:spPr>
          <a:xfrm>
            <a:off x="8719424" y="6408558"/>
            <a:ext cx="6982203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 Features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44910" y="6933715"/>
            <a:ext cx="190966" cy="190966"/>
          </a:xfrm>
          <a:custGeom>
            <a:avLst/>
            <a:gdLst/>
            <a:ahLst/>
            <a:cxnLst/>
            <a:rect l="l" t="t" r="r" b="b"/>
            <a:pathLst>
              <a:path w="190966" h="190966">
                <a:moveTo>
                  <a:pt x="95483" y="190966"/>
                </a:moveTo>
                <a:cubicBezTo>
                  <a:pt x="148182" y="190966"/>
                  <a:pt x="190966" y="148182"/>
                  <a:pt x="190966" y="95483"/>
                </a:cubicBezTo>
                <a:cubicBezTo>
                  <a:pt x="190966" y="42785"/>
                  <a:pt x="148182" y="0"/>
                  <a:pt x="95483" y="0"/>
                </a:cubicBezTo>
                <a:cubicBezTo>
                  <a:pt x="42785" y="0"/>
                  <a:pt x="0" y="42785"/>
                  <a:pt x="0" y="95483"/>
                </a:cubicBezTo>
                <a:cubicBezTo>
                  <a:pt x="0" y="148182"/>
                  <a:pt x="42785" y="190966"/>
                  <a:pt x="95483" y="190966"/>
                </a:cubicBezTo>
                <a:close/>
                <a:moveTo>
                  <a:pt x="126963" y="79333"/>
                </a:moveTo>
                <a:lnTo>
                  <a:pt x="97124" y="127075"/>
                </a:lnTo>
                <a:cubicBezTo>
                  <a:pt x="95558" y="129574"/>
                  <a:pt x="92872" y="131140"/>
                  <a:pt x="89926" y="131289"/>
                </a:cubicBezTo>
                <a:cubicBezTo>
                  <a:pt x="86979" y="131438"/>
                  <a:pt x="84144" y="130096"/>
                  <a:pt x="82391" y="127709"/>
                </a:cubicBezTo>
                <a:lnTo>
                  <a:pt x="64488" y="103838"/>
                </a:lnTo>
                <a:cubicBezTo>
                  <a:pt x="61505" y="99884"/>
                  <a:pt x="62325" y="94290"/>
                  <a:pt x="66279" y="91306"/>
                </a:cubicBezTo>
                <a:cubicBezTo>
                  <a:pt x="70232" y="88322"/>
                  <a:pt x="75827" y="89142"/>
                  <a:pt x="78811" y="93096"/>
                </a:cubicBezTo>
                <a:lnTo>
                  <a:pt x="88881" y="106523"/>
                </a:lnTo>
                <a:lnTo>
                  <a:pt x="111782" y="69859"/>
                </a:lnTo>
                <a:cubicBezTo>
                  <a:pt x="114393" y="65682"/>
                  <a:pt x="119913" y="64377"/>
                  <a:pt x="124128" y="67025"/>
                </a:cubicBezTo>
                <a:cubicBezTo>
                  <a:pt x="128343" y="69673"/>
                  <a:pt x="129611" y="75156"/>
                  <a:pt x="126963" y="7937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Text 44"/>
          <p:cNvSpPr/>
          <p:nvPr/>
        </p:nvSpPr>
        <p:spPr>
          <a:xfrm>
            <a:off x="8802972" y="6885974"/>
            <a:ext cx="384319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HSRP: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Active-Standby gateway redundancy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44910" y="7315648"/>
            <a:ext cx="190966" cy="190966"/>
          </a:xfrm>
          <a:custGeom>
            <a:avLst/>
            <a:gdLst/>
            <a:ahLst/>
            <a:cxnLst/>
            <a:rect l="l" t="t" r="r" b="b"/>
            <a:pathLst>
              <a:path w="190966" h="190966">
                <a:moveTo>
                  <a:pt x="95483" y="190966"/>
                </a:moveTo>
                <a:cubicBezTo>
                  <a:pt x="148182" y="190966"/>
                  <a:pt x="190966" y="148182"/>
                  <a:pt x="190966" y="95483"/>
                </a:cubicBezTo>
                <a:cubicBezTo>
                  <a:pt x="190966" y="42785"/>
                  <a:pt x="148182" y="0"/>
                  <a:pt x="95483" y="0"/>
                </a:cubicBezTo>
                <a:cubicBezTo>
                  <a:pt x="42785" y="0"/>
                  <a:pt x="0" y="42785"/>
                  <a:pt x="0" y="95483"/>
                </a:cubicBezTo>
                <a:cubicBezTo>
                  <a:pt x="0" y="148182"/>
                  <a:pt x="42785" y="190966"/>
                  <a:pt x="95483" y="190966"/>
                </a:cubicBezTo>
                <a:close/>
                <a:moveTo>
                  <a:pt x="126963" y="79333"/>
                </a:moveTo>
                <a:lnTo>
                  <a:pt x="97124" y="127075"/>
                </a:lnTo>
                <a:cubicBezTo>
                  <a:pt x="95558" y="129574"/>
                  <a:pt x="92872" y="131140"/>
                  <a:pt x="89926" y="131289"/>
                </a:cubicBezTo>
                <a:cubicBezTo>
                  <a:pt x="86979" y="131438"/>
                  <a:pt x="84144" y="130096"/>
                  <a:pt x="82391" y="127709"/>
                </a:cubicBezTo>
                <a:lnTo>
                  <a:pt x="64488" y="103838"/>
                </a:lnTo>
                <a:cubicBezTo>
                  <a:pt x="61505" y="99884"/>
                  <a:pt x="62325" y="94290"/>
                  <a:pt x="66279" y="91306"/>
                </a:cubicBezTo>
                <a:cubicBezTo>
                  <a:pt x="70232" y="88322"/>
                  <a:pt x="75827" y="89142"/>
                  <a:pt x="78811" y="93096"/>
                </a:cubicBezTo>
                <a:lnTo>
                  <a:pt x="88881" y="106523"/>
                </a:lnTo>
                <a:lnTo>
                  <a:pt x="111782" y="69859"/>
                </a:lnTo>
                <a:cubicBezTo>
                  <a:pt x="114393" y="65682"/>
                  <a:pt x="119913" y="64377"/>
                  <a:pt x="124128" y="67025"/>
                </a:cubicBezTo>
                <a:cubicBezTo>
                  <a:pt x="128343" y="69673"/>
                  <a:pt x="129611" y="75156"/>
                  <a:pt x="126963" y="7937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8802972" y="7267906"/>
            <a:ext cx="381932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LACP: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Link aggregation with load balancing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44910" y="7697580"/>
            <a:ext cx="190966" cy="190966"/>
          </a:xfrm>
          <a:custGeom>
            <a:avLst/>
            <a:gdLst/>
            <a:ahLst/>
            <a:cxnLst/>
            <a:rect l="l" t="t" r="r" b="b"/>
            <a:pathLst>
              <a:path w="190966" h="190966">
                <a:moveTo>
                  <a:pt x="95483" y="190966"/>
                </a:moveTo>
                <a:cubicBezTo>
                  <a:pt x="148182" y="190966"/>
                  <a:pt x="190966" y="148182"/>
                  <a:pt x="190966" y="95483"/>
                </a:cubicBezTo>
                <a:cubicBezTo>
                  <a:pt x="190966" y="42785"/>
                  <a:pt x="148182" y="0"/>
                  <a:pt x="95483" y="0"/>
                </a:cubicBezTo>
                <a:cubicBezTo>
                  <a:pt x="42785" y="0"/>
                  <a:pt x="0" y="42785"/>
                  <a:pt x="0" y="95483"/>
                </a:cubicBezTo>
                <a:cubicBezTo>
                  <a:pt x="0" y="148182"/>
                  <a:pt x="42785" y="190966"/>
                  <a:pt x="95483" y="190966"/>
                </a:cubicBezTo>
                <a:close/>
                <a:moveTo>
                  <a:pt x="126963" y="79333"/>
                </a:moveTo>
                <a:lnTo>
                  <a:pt x="97124" y="127075"/>
                </a:lnTo>
                <a:cubicBezTo>
                  <a:pt x="95558" y="129574"/>
                  <a:pt x="92872" y="131140"/>
                  <a:pt x="89926" y="131289"/>
                </a:cubicBezTo>
                <a:cubicBezTo>
                  <a:pt x="86979" y="131438"/>
                  <a:pt x="84144" y="130096"/>
                  <a:pt x="82391" y="127709"/>
                </a:cubicBezTo>
                <a:lnTo>
                  <a:pt x="64488" y="103838"/>
                </a:lnTo>
                <a:cubicBezTo>
                  <a:pt x="61505" y="99884"/>
                  <a:pt x="62325" y="94290"/>
                  <a:pt x="66279" y="91306"/>
                </a:cubicBezTo>
                <a:cubicBezTo>
                  <a:pt x="70232" y="88322"/>
                  <a:pt x="75827" y="89142"/>
                  <a:pt x="78811" y="93096"/>
                </a:cubicBezTo>
                <a:lnTo>
                  <a:pt x="88881" y="106523"/>
                </a:lnTo>
                <a:lnTo>
                  <a:pt x="111782" y="69859"/>
                </a:lnTo>
                <a:cubicBezTo>
                  <a:pt x="114393" y="65682"/>
                  <a:pt x="119913" y="64377"/>
                  <a:pt x="124128" y="67025"/>
                </a:cubicBezTo>
                <a:cubicBezTo>
                  <a:pt x="128343" y="69673"/>
                  <a:pt x="129611" y="75156"/>
                  <a:pt x="126963" y="7937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8802972" y="7649838"/>
            <a:ext cx="3628358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RAPID-PVST: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Spanning tree optimization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44910" y="8079512"/>
            <a:ext cx="190966" cy="190966"/>
          </a:xfrm>
          <a:custGeom>
            <a:avLst/>
            <a:gdLst/>
            <a:ahLst/>
            <a:cxnLst/>
            <a:rect l="l" t="t" r="r" b="b"/>
            <a:pathLst>
              <a:path w="190966" h="190966">
                <a:moveTo>
                  <a:pt x="95483" y="190966"/>
                </a:moveTo>
                <a:cubicBezTo>
                  <a:pt x="148182" y="190966"/>
                  <a:pt x="190966" y="148182"/>
                  <a:pt x="190966" y="95483"/>
                </a:cubicBezTo>
                <a:cubicBezTo>
                  <a:pt x="190966" y="42785"/>
                  <a:pt x="148182" y="0"/>
                  <a:pt x="95483" y="0"/>
                </a:cubicBezTo>
                <a:cubicBezTo>
                  <a:pt x="42785" y="0"/>
                  <a:pt x="0" y="42785"/>
                  <a:pt x="0" y="95483"/>
                </a:cubicBezTo>
                <a:cubicBezTo>
                  <a:pt x="0" y="148182"/>
                  <a:pt x="42785" y="190966"/>
                  <a:pt x="95483" y="190966"/>
                </a:cubicBezTo>
                <a:close/>
                <a:moveTo>
                  <a:pt x="126963" y="79333"/>
                </a:moveTo>
                <a:lnTo>
                  <a:pt x="97124" y="127075"/>
                </a:lnTo>
                <a:cubicBezTo>
                  <a:pt x="95558" y="129574"/>
                  <a:pt x="92872" y="131140"/>
                  <a:pt x="89926" y="131289"/>
                </a:cubicBezTo>
                <a:cubicBezTo>
                  <a:pt x="86979" y="131438"/>
                  <a:pt x="84144" y="130096"/>
                  <a:pt x="82391" y="127709"/>
                </a:cubicBezTo>
                <a:lnTo>
                  <a:pt x="64488" y="103838"/>
                </a:lnTo>
                <a:cubicBezTo>
                  <a:pt x="61505" y="99884"/>
                  <a:pt x="62325" y="94290"/>
                  <a:pt x="66279" y="91306"/>
                </a:cubicBezTo>
                <a:cubicBezTo>
                  <a:pt x="70232" y="88322"/>
                  <a:pt x="75827" y="89142"/>
                  <a:pt x="78811" y="93096"/>
                </a:cubicBezTo>
                <a:lnTo>
                  <a:pt x="88881" y="106523"/>
                </a:lnTo>
                <a:lnTo>
                  <a:pt x="111782" y="69859"/>
                </a:lnTo>
                <a:cubicBezTo>
                  <a:pt x="114393" y="65682"/>
                  <a:pt x="119913" y="64377"/>
                  <a:pt x="124128" y="67025"/>
                </a:cubicBezTo>
                <a:cubicBezTo>
                  <a:pt x="128343" y="69673"/>
                  <a:pt x="129611" y="75156"/>
                  <a:pt x="126963" y="7937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Text 50"/>
          <p:cNvSpPr/>
          <p:nvPr/>
        </p:nvSpPr>
        <p:spPr>
          <a:xfrm>
            <a:off x="8802972" y="8031771"/>
            <a:ext cx="278094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OSPF: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routing failover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1394" y="8664348"/>
            <a:ext cx="15285255" cy="580856"/>
          </a:xfrm>
          <a:custGeom>
            <a:avLst/>
            <a:gdLst/>
            <a:ahLst/>
            <a:cxnLst/>
            <a:rect l="l" t="t" r="r" b="b"/>
            <a:pathLst>
              <a:path w="15285255" h="580856">
                <a:moveTo>
                  <a:pt x="0" y="0"/>
                </a:moveTo>
                <a:lnTo>
                  <a:pt x="15285255" y="0"/>
                </a:lnTo>
                <a:lnTo>
                  <a:pt x="15285255" y="580856"/>
                </a:lnTo>
                <a:lnTo>
                  <a:pt x="0" y="58085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8597" y="8811552"/>
            <a:ext cx="53947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Topology:</a:t>
            </a:r>
            <a:r>
              <a:rPr lang="en-US" sz="150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Hierarchical 3-Tier (Core → Distribution → Access)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3480152" y="8811552"/>
            <a:ext cx="2243853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Scheme:</a:t>
            </a:r>
            <a:r>
              <a:rPr lang="en-US" sz="15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50.50.0.0/16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861" y="426861"/>
            <a:ext cx="1615722" cy="356306"/>
          </a:xfrm>
          <a:custGeom>
            <a:avLst/>
            <a:gdLst/>
            <a:ahLst/>
            <a:cxnLst/>
            <a:rect l="l" t="t" r="r" b="b"/>
            <a:pathLst>
              <a:path w="1615722" h="356306">
                <a:moveTo>
                  <a:pt x="0" y="0"/>
                </a:moveTo>
                <a:lnTo>
                  <a:pt x="1615722" y="0"/>
                </a:lnTo>
                <a:lnTo>
                  <a:pt x="1615722" y="356306"/>
                </a:lnTo>
                <a:lnTo>
                  <a:pt x="0" y="35630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389" y="479780"/>
            <a:ext cx="1443082" cy="24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 QUARTER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HQ: VLAN Segmentation &amp; Services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504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Department-wise network isolation with comprehensive service infrastructure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861" y="1802694"/>
            <a:ext cx="9161639" cy="8717139"/>
          </a:xfrm>
          <a:custGeom>
            <a:avLst/>
            <a:gdLst/>
            <a:ahLst/>
            <a:cxnLst/>
            <a:rect l="l" t="t" r="r" b="b"/>
            <a:pathLst>
              <a:path w="9161639" h="8717139">
                <a:moveTo>
                  <a:pt x="0" y="0"/>
                </a:moveTo>
                <a:lnTo>
                  <a:pt x="9161639" y="0"/>
                </a:lnTo>
                <a:lnTo>
                  <a:pt x="9161639" y="8717139"/>
                </a:lnTo>
                <a:lnTo>
                  <a:pt x="0" y="8717139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5753" y="198614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800806" y="1933223"/>
            <a:ext cx="8752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VLAN Segmentation Table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389" y="2314223"/>
          <a:ext cx="8900583" cy="3026830"/>
        </p:xfrm>
        <a:graphic>
          <a:graphicData uri="http://schemas.openxmlformats.org/drawingml/2006/table">
            <a:tbl>
              <a:tblPr/>
              <a:tblGrid>
                <a:gridCol w="1268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7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3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683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VLAN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Department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Network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Gateway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Servers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50.50.10.0/24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50.50.10.1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HR Department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50.50.20.0/24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50.50.20.1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Finance Department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50.50.30.0/24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50.50.30.1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Sales Department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50.50.40.0/24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50.50.40.1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IT Department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50.50.50.0/24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50.50.50.1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Management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50.50.60.0/24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50.50.60.1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Voice (VoIP)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50.50.70.0/24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50.50.70.1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IoT Devices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50.50.80.0/24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50.50.80.1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Wireless/WiFi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50.50.90.0/24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50.50.90.1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9723217" y="1802694"/>
            <a:ext cx="6103056" cy="5595056"/>
          </a:xfrm>
          <a:custGeom>
            <a:avLst/>
            <a:gdLst/>
            <a:ahLst/>
            <a:cxnLst/>
            <a:rect l="l" t="t" r="r" b="b"/>
            <a:pathLst>
              <a:path w="6103056" h="5595056">
                <a:moveTo>
                  <a:pt x="0" y="0"/>
                </a:moveTo>
                <a:lnTo>
                  <a:pt x="6103056" y="0"/>
                </a:lnTo>
                <a:lnTo>
                  <a:pt x="6103056" y="5595056"/>
                </a:lnTo>
                <a:lnTo>
                  <a:pt x="0" y="5595056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92109" y="198614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9"/>
          <p:cNvSpPr/>
          <p:nvPr/>
        </p:nvSpPr>
        <p:spPr>
          <a:xfrm>
            <a:off x="10097161" y="1933223"/>
            <a:ext cx="5693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Servers (VLAN 10)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867856" y="2314223"/>
            <a:ext cx="5834944" cy="635000"/>
          </a:xfrm>
          <a:custGeom>
            <a:avLst/>
            <a:gdLst/>
            <a:ahLst/>
            <a:cxnLst/>
            <a:rect l="l" t="t" r="r" b="b"/>
            <a:pathLst>
              <a:path w="5834944" h="635000">
                <a:moveTo>
                  <a:pt x="0" y="0"/>
                </a:moveTo>
                <a:lnTo>
                  <a:pt x="5834944" y="0"/>
                </a:lnTo>
                <a:lnTo>
                  <a:pt x="5834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1"/>
          <p:cNvSpPr/>
          <p:nvPr/>
        </p:nvSpPr>
        <p:spPr>
          <a:xfrm>
            <a:off x="9867856" y="2314223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9966634" y="2398890"/>
            <a:ext cx="573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📧 EMAIL Server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966634" y="2652890"/>
            <a:ext cx="572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50.50.10.12 | Domain: pesi.com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867856" y="3033890"/>
            <a:ext cx="5834944" cy="635000"/>
          </a:xfrm>
          <a:custGeom>
            <a:avLst/>
            <a:gdLst/>
            <a:ahLst/>
            <a:cxnLst/>
            <a:rect l="l" t="t" r="r" b="b"/>
            <a:pathLst>
              <a:path w="5834944" h="635000">
                <a:moveTo>
                  <a:pt x="0" y="0"/>
                </a:moveTo>
                <a:lnTo>
                  <a:pt x="5834944" y="0"/>
                </a:lnTo>
                <a:lnTo>
                  <a:pt x="5834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Shape 15"/>
          <p:cNvSpPr/>
          <p:nvPr/>
        </p:nvSpPr>
        <p:spPr>
          <a:xfrm>
            <a:off x="9867856" y="3033890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9" name="Text 16"/>
          <p:cNvSpPr/>
          <p:nvPr/>
        </p:nvSpPr>
        <p:spPr>
          <a:xfrm>
            <a:off x="9966634" y="3118556"/>
            <a:ext cx="573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🌐 DNS Server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966634" y="3372556"/>
            <a:ext cx="572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50.50.10.11 | A Record: pesi.com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867856" y="3753556"/>
            <a:ext cx="5834944" cy="635000"/>
          </a:xfrm>
          <a:custGeom>
            <a:avLst/>
            <a:gdLst/>
            <a:ahLst/>
            <a:cxnLst/>
            <a:rect l="l" t="t" r="r" b="b"/>
            <a:pathLst>
              <a:path w="5834944" h="635000">
                <a:moveTo>
                  <a:pt x="0" y="0"/>
                </a:moveTo>
                <a:lnTo>
                  <a:pt x="5834944" y="0"/>
                </a:lnTo>
                <a:lnTo>
                  <a:pt x="5834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Shape 19"/>
          <p:cNvSpPr/>
          <p:nvPr/>
        </p:nvSpPr>
        <p:spPr>
          <a:xfrm>
            <a:off x="9867856" y="3753556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0"/>
          <p:cNvSpPr/>
          <p:nvPr/>
        </p:nvSpPr>
        <p:spPr>
          <a:xfrm>
            <a:off x="9966634" y="3838223"/>
            <a:ext cx="573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📡 DHCP Server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966634" y="4092223"/>
            <a:ext cx="572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50.50.10.10 | 9 DHCP Pools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867856" y="4473223"/>
            <a:ext cx="5834944" cy="635000"/>
          </a:xfrm>
          <a:custGeom>
            <a:avLst/>
            <a:gdLst/>
            <a:ahLst/>
            <a:cxnLst/>
            <a:rect l="l" t="t" r="r" b="b"/>
            <a:pathLst>
              <a:path w="5834944" h="635000">
                <a:moveTo>
                  <a:pt x="0" y="0"/>
                </a:moveTo>
                <a:lnTo>
                  <a:pt x="5834944" y="0"/>
                </a:lnTo>
                <a:lnTo>
                  <a:pt x="5834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3"/>
          <p:cNvSpPr/>
          <p:nvPr/>
        </p:nvSpPr>
        <p:spPr>
          <a:xfrm>
            <a:off x="9867856" y="4473223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7" name="Text 24"/>
          <p:cNvSpPr/>
          <p:nvPr/>
        </p:nvSpPr>
        <p:spPr>
          <a:xfrm>
            <a:off x="9966634" y="4557890"/>
            <a:ext cx="573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📁 FTP Server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966634" y="4811890"/>
            <a:ext cx="572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50.50.10.14 | Department-wise access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867856" y="5192890"/>
            <a:ext cx="5834944" cy="635000"/>
          </a:xfrm>
          <a:custGeom>
            <a:avLst/>
            <a:gdLst/>
            <a:ahLst/>
            <a:cxnLst/>
            <a:rect l="l" t="t" r="r" b="b"/>
            <a:pathLst>
              <a:path w="5834944" h="635000">
                <a:moveTo>
                  <a:pt x="0" y="0"/>
                </a:moveTo>
                <a:lnTo>
                  <a:pt x="5834944" y="0"/>
                </a:lnTo>
                <a:lnTo>
                  <a:pt x="5834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7"/>
          <p:cNvSpPr/>
          <p:nvPr/>
        </p:nvSpPr>
        <p:spPr>
          <a:xfrm>
            <a:off x="9867856" y="5192890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8"/>
          <p:cNvSpPr/>
          <p:nvPr/>
        </p:nvSpPr>
        <p:spPr>
          <a:xfrm>
            <a:off x="9966634" y="5277556"/>
            <a:ext cx="573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🕒 NTP/SYSLOG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966634" y="5531556"/>
            <a:ext cx="572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50.50.10.16 | Centralized sync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867856" y="5912556"/>
            <a:ext cx="5834944" cy="635000"/>
          </a:xfrm>
          <a:custGeom>
            <a:avLst/>
            <a:gdLst/>
            <a:ahLst/>
            <a:cxnLst/>
            <a:rect l="l" t="t" r="r" b="b"/>
            <a:pathLst>
              <a:path w="5834944" h="635000">
                <a:moveTo>
                  <a:pt x="0" y="0"/>
                </a:moveTo>
                <a:lnTo>
                  <a:pt x="5834944" y="0"/>
                </a:lnTo>
                <a:lnTo>
                  <a:pt x="5834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1"/>
          <p:cNvSpPr/>
          <p:nvPr/>
        </p:nvSpPr>
        <p:spPr>
          <a:xfrm>
            <a:off x="9867856" y="5912556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5" name="Text 32"/>
          <p:cNvSpPr/>
          <p:nvPr/>
        </p:nvSpPr>
        <p:spPr>
          <a:xfrm>
            <a:off x="9966634" y="5997223"/>
            <a:ext cx="573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🔐 AAA/RADIUS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966634" y="6251223"/>
            <a:ext cx="572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50.50.10.18 | Port: 1645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9867856" y="6632223"/>
            <a:ext cx="5834944" cy="635000"/>
          </a:xfrm>
          <a:custGeom>
            <a:avLst/>
            <a:gdLst/>
            <a:ahLst/>
            <a:cxnLst/>
            <a:rect l="l" t="t" r="r" b="b"/>
            <a:pathLst>
              <a:path w="5834944" h="635000">
                <a:moveTo>
                  <a:pt x="0" y="0"/>
                </a:moveTo>
                <a:lnTo>
                  <a:pt x="5834944" y="0"/>
                </a:lnTo>
                <a:lnTo>
                  <a:pt x="5834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5"/>
          <p:cNvSpPr/>
          <p:nvPr/>
        </p:nvSpPr>
        <p:spPr>
          <a:xfrm>
            <a:off x="9867856" y="6632223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6"/>
          <p:cNvSpPr/>
          <p:nvPr/>
        </p:nvSpPr>
        <p:spPr>
          <a:xfrm>
            <a:off x="9966634" y="6716890"/>
            <a:ext cx="573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🏠 IoT Server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966634" y="6970890"/>
            <a:ext cx="572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50.50.10.17 | Registration server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723217" y="7531807"/>
            <a:ext cx="6103056" cy="1499306"/>
          </a:xfrm>
          <a:custGeom>
            <a:avLst/>
            <a:gdLst/>
            <a:ahLst/>
            <a:cxnLst/>
            <a:rect l="l" t="t" r="r" b="b"/>
            <a:pathLst>
              <a:path w="6103056" h="1499306">
                <a:moveTo>
                  <a:pt x="0" y="0"/>
                </a:moveTo>
                <a:lnTo>
                  <a:pt x="6103056" y="0"/>
                </a:lnTo>
                <a:lnTo>
                  <a:pt x="6103056" y="1499306"/>
                </a:lnTo>
                <a:lnTo>
                  <a:pt x="0" y="1499306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53745" y="7662333"/>
            <a:ext cx="593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Capacity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9857273" y="8046861"/>
            <a:ext cx="2875139" cy="853722"/>
          </a:xfrm>
          <a:custGeom>
            <a:avLst/>
            <a:gdLst/>
            <a:ahLst/>
            <a:cxnLst/>
            <a:rect l="l" t="t" r="r" b="b"/>
            <a:pathLst>
              <a:path w="2875139" h="853722">
                <a:moveTo>
                  <a:pt x="0" y="0"/>
                </a:moveTo>
                <a:lnTo>
                  <a:pt x="2875139" y="0"/>
                </a:lnTo>
                <a:lnTo>
                  <a:pt x="2875139" y="853722"/>
                </a:lnTo>
                <a:lnTo>
                  <a:pt x="0" y="8537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924301" y="8177390"/>
            <a:ext cx="2741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950759" y="8558390"/>
            <a:ext cx="2688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2822040" y="8046861"/>
            <a:ext cx="2875139" cy="853722"/>
          </a:xfrm>
          <a:custGeom>
            <a:avLst/>
            <a:gdLst/>
            <a:ahLst/>
            <a:cxnLst/>
            <a:rect l="l" t="t" r="r" b="b"/>
            <a:pathLst>
              <a:path w="2875139" h="853722">
                <a:moveTo>
                  <a:pt x="0" y="0"/>
                </a:moveTo>
                <a:lnTo>
                  <a:pt x="2875139" y="0"/>
                </a:lnTo>
                <a:lnTo>
                  <a:pt x="2875139" y="853722"/>
                </a:lnTo>
                <a:lnTo>
                  <a:pt x="0" y="8537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2889067" y="8177390"/>
            <a:ext cx="2741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~2,000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2915526" y="8558390"/>
            <a:ext cx="2688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26861" y="10610787"/>
            <a:ext cx="15405806" cy="430389"/>
          </a:xfrm>
          <a:custGeom>
            <a:avLst/>
            <a:gdLst/>
            <a:ahLst/>
            <a:cxnLst/>
            <a:rect l="l" t="t" r="r" b="b"/>
            <a:pathLst>
              <a:path w="15405806" h="430389">
                <a:moveTo>
                  <a:pt x="0" y="0"/>
                </a:moveTo>
                <a:lnTo>
                  <a:pt x="15405806" y="0"/>
                </a:lnTo>
                <a:lnTo>
                  <a:pt x="15405806" y="430389"/>
                </a:lnTo>
                <a:lnTo>
                  <a:pt x="0" y="430389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2722" y="10698980"/>
            <a:ext cx="15314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HSRP: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Virtual IP as default gateway | </a:t>
            </a: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Preempt: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Enabled | </a:t>
            </a: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Bridge: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Core-Active (Priority 24576)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861" y="426861"/>
            <a:ext cx="1615722" cy="356306"/>
          </a:xfrm>
          <a:custGeom>
            <a:avLst/>
            <a:gdLst/>
            <a:ahLst/>
            <a:cxnLst/>
            <a:rect l="l" t="t" r="r" b="b"/>
            <a:pathLst>
              <a:path w="1615722" h="356306">
                <a:moveTo>
                  <a:pt x="0" y="0"/>
                </a:moveTo>
                <a:lnTo>
                  <a:pt x="1615722" y="0"/>
                </a:lnTo>
                <a:lnTo>
                  <a:pt x="1615722" y="356306"/>
                </a:lnTo>
                <a:lnTo>
                  <a:pt x="0" y="35630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389" y="479780"/>
            <a:ext cx="1443082" cy="24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 QUARTER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HQ: VoIP, IoT &amp; Security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504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communication and automated security systems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861" y="1845028"/>
            <a:ext cx="7616472" cy="5986639"/>
          </a:xfrm>
          <a:custGeom>
            <a:avLst/>
            <a:gdLst/>
            <a:ahLst/>
            <a:cxnLst/>
            <a:rect l="l" t="t" r="r" b="b"/>
            <a:pathLst>
              <a:path w="7616472" h="5986639">
                <a:moveTo>
                  <a:pt x="0" y="0"/>
                </a:moveTo>
                <a:lnTo>
                  <a:pt x="7616472" y="0"/>
                </a:lnTo>
                <a:lnTo>
                  <a:pt x="7616472" y="5986639"/>
                </a:lnTo>
                <a:lnTo>
                  <a:pt x="0" y="5986639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181" y="2060226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45438" y="10335"/>
                </a:moveTo>
                <a:cubicBezTo>
                  <a:pt x="148663" y="2563"/>
                  <a:pt x="157179" y="-1612"/>
                  <a:pt x="165323" y="620"/>
                </a:cubicBezTo>
                <a:lnTo>
                  <a:pt x="167597" y="1240"/>
                </a:lnTo>
                <a:cubicBezTo>
                  <a:pt x="194303" y="8516"/>
                  <a:pt x="217124" y="34396"/>
                  <a:pt x="210468" y="65898"/>
                </a:cubicBezTo>
                <a:cubicBezTo>
                  <a:pt x="195130" y="138245"/>
                  <a:pt x="138203" y="195172"/>
                  <a:pt x="65856" y="210509"/>
                </a:cubicBezTo>
                <a:cubicBezTo>
                  <a:pt x="34313" y="217206"/>
                  <a:pt x="8475" y="194345"/>
                  <a:pt x="1199" y="167638"/>
                </a:cubicBezTo>
                <a:lnTo>
                  <a:pt x="579" y="165365"/>
                </a:lnTo>
                <a:cubicBezTo>
                  <a:pt x="-1654" y="157220"/>
                  <a:pt x="2522" y="148704"/>
                  <a:pt x="10294" y="145479"/>
                </a:cubicBezTo>
                <a:lnTo>
                  <a:pt x="50519" y="128736"/>
                </a:lnTo>
                <a:cubicBezTo>
                  <a:pt x="57340" y="125884"/>
                  <a:pt x="65236" y="127868"/>
                  <a:pt x="69949" y="133615"/>
                </a:cubicBezTo>
                <a:lnTo>
                  <a:pt x="85907" y="153128"/>
                </a:lnTo>
                <a:cubicBezTo>
                  <a:pt x="114970" y="138700"/>
                  <a:pt x="138327" y="114556"/>
                  <a:pt x="151763" y="84956"/>
                </a:cubicBezTo>
                <a:lnTo>
                  <a:pt x="133532" y="70032"/>
                </a:lnTo>
                <a:cubicBezTo>
                  <a:pt x="127785" y="65360"/>
                  <a:pt x="125842" y="57464"/>
                  <a:pt x="128654" y="50602"/>
                </a:cubicBezTo>
                <a:lnTo>
                  <a:pt x="145438" y="1033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864306" y="2017892"/>
            <a:ext cx="7112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VoIP/Telephony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250" y="2444753"/>
            <a:ext cx="7256639" cy="1488722"/>
          </a:xfrm>
          <a:custGeom>
            <a:avLst/>
            <a:gdLst/>
            <a:ahLst/>
            <a:cxnLst/>
            <a:rect l="l" t="t" r="r" b="b"/>
            <a:pathLst>
              <a:path w="7256639" h="1488722">
                <a:moveTo>
                  <a:pt x="0" y="0"/>
                </a:moveTo>
                <a:lnTo>
                  <a:pt x="7256639" y="0"/>
                </a:lnTo>
                <a:lnTo>
                  <a:pt x="7256639" y="1488722"/>
                </a:lnTo>
                <a:lnTo>
                  <a:pt x="0" y="14887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3778" y="2575280"/>
            <a:ext cx="7090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Voice-Path Router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3778" y="2956280"/>
            <a:ext cx="708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</a:t>
            </a:r>
            <a:r>
              <a:rPr lang="en-US" sz="13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50.50.100.2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3778" y="3252613"/>
            <a:ext cx="708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System:</a:t>
            </a:r>
            <a:r>
              <a:rPr lang="en-US" sz="13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Cisco CME (Call Manager Express)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3778" y="3548946"/>
            <a:ext cx="708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Capacity:</a:t>
            </a:r>
            <a:r>
              <a:rPr lang="en-US" sz="13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42 IP Phones max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250" y="4067528"/>
            <a:ext cx="3563056" cy="938389"/>
          </a:xfrm>
          <a:custGeom>
            <a:avLst/>
            <a:gdLst/>
            <a:ahLst/>
            <a:cxnLst/>
            <a:rect l="l" t="t" r="r" b="b"/>
            <a:pathLst>
              <a:path w="3563056" h="938389">
                <a:moveTo>
                  <a:pt x="0" y="0"/>
                </a:moveTo>
                <a:lnTo>
                  <a:pt x="3563056" y="0"/>
                </a:lnTo>
                <a:lnTo>
                  <a:pt x="3563056" y="938389"/>
                </a:lnTo>
                <a:lnTo>
                  <a:pt x="0" y="93838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403" y="4198059"/>
            <a:ext cx="346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1444" y="4621392"/>
            <a:ext cx="338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Phones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00361" y="4067528"/>
            <a:ext cx="3563056" cy="938389"/>
          </a:xfrm>
          <a:custGeom>
            <a:avLst/>
            <a:gdLst/>
            <a:ahLst/>
            <a:cxnLst/>
            <a:rect l="l" t="t" r="r" b="b"/>
            <a:pathLst>
              <a:path w="3563056" h="938389">
                <a:moveTo>
                  <a:pt x="0" y="0"/>
                </a:moveTo>
                <a:lnTo>
                  <a:pt x="3563056" y="0"/>
                </a:lnTo>
                <a:lnTo>
                  <a:pt x="3563056" y="938389"/>
                </a:lnTo>
                <a:lnTo>
                  <a:pt x="0" y="93838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1514" y="4198059"/>
            <a:ext cx="346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6001-6005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8556" y="4621392"/>
            <a:ext cx="338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250" y="5139974"/>
            <a:ext cx="7256639" cy="811389"/>
          </a:xfrm>
          <a:custGeom>
            <a:avLst/>
            <a:gdLst/>
            <a:ahLst/>
            <a:cxnLst/>
            <a:rect l="l" t="t" r="r" b="b"/>
            <a:pathLst>
              <a:path w="7256639" h="811389">
                <a:moveTo>
                  <a:pt x="0" y="0"/>
                </a:moveTo>
                <a:lnTo>
                  <a:pt x="7256639" y="0"/>
                </a:lnTo>
                <a:lnTo>
                  <a:pt x="7256639" y="811389"/>
                </a:lnTo>
                <a:lnTo>
                  <a:pt x="0" y="811389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778" y="5270500"/>
            <a:ext cx="708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Dial-Peer Configuration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3778" y="5609167"/>
            <a:ext cx="7069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calling configured with proper dial-peers for outbound call routing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6861" y="8010150"/>
            <a:ext cx="7616472" cy="3690056"/>
          </a:xfrm>
          <a:custGeom>
            <a:avLst/>
            <a:gdLst/>
            <a:ahLst/>
            <a:cxnLst/>
            <a:rect l="l" t="t" r="r" b="b"/>
            <a:pathLst>
              <a:path w="7616472" h="3690056">
                <a:moveTo>
                  <a:pt x="0" y="0"/>
                </a:moveTo>
                <a:lnTo>
                  <a:pt x="7616472" y="0"/>
                </a:lnTo>
                <a:lnTo>
                  <a:pt x="7616472" y="3690056"/>
                </a:lnTo>
                <a:lnTo>
                  <a:pt x="0" y="3690056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181" y="8225348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07735" y="0"/>
                  <a:pt x="109637" y="413"/>
                  <a:pt x="111373" y="1199"/>
                </a:cubicBezTo>
                <a:lnTo>
                  <a:pt x="189260" y="34230"/>
                </a:lnTo>
                <a:cubicBezTo>
                  <a:pt x="198355" y="38075"/>
                  <a:pt x="205135" y="47046"/>
                  <a:pt x="205093" y="57878"/>
                </a:cubicBezTo>
                <a:cubicBezTo>
                  <a:pt x="204887" y="98888"/>
                  <a:pt x="188020" y="173922"/>
                  <a:pt x="116789" y="208029"/>
                </a:cubicBezTo>
                <a:cubicBezTo>
                  <a:pt x="109885" y="211336"/>
                  <a:pt x="101865" y="211336"/>
                  <a:pt x="94961" y="208029"/>
                </a:cubicBezTo>
                <a:cubicBezTo>
                  <a:pt x="23688" y="173922"/>
                  <a:pt x="6863" y="98888"/>
                  <a:pt x="6656" y="57878"/>
                </a:cubicBezTo>
                <a:cubicBezTo>
                  <a:pt x="6615" y="47046"/>
                  <a:pt x="13395" y="38075"/>
                  <a:pt x="22490" y="34230"/>
                </a:cubicBezTo>
                <a:lnTo>
                  <a:pt x="100335" y="1199"/>
                </a:lnTo>
                <a:cubicBezTo>
                  <a:pt x="102071" y="413"/>
                  <a:pt x="103932" y="0"/>
                  <a:pt x="105833" y="0"/>
                </a:cubicBezTo>
                <a:close/>
                <a:moveTo>
                  <a:pt x="105833" y="27616"/>
                </a:moveTo>
                <a:lnTo>
                  <a:pt x="105833" y="183927"/>
                </a:lnTo>
                <a:cubicBezTo>
                  <a:pt x="162884" y="156311"/>
                  <a:pt x="178222" y="95126"/>
                  <a:pt x="178594" y="58498"/>
                </a:cubicBezTo>
                <a:lnTo>
                  <a:pt x="105833" y="27657"/>
                </a:lnTo>
                <a:lnTo>
                  <a:pt x="105833" y="2765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864306" y="8183015"/>
            <a:ext cx="7112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Implementation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3833" y="8606348"/>
            <a:ext cx="7253111" cy="973667"/>
          </a:xfrm>
          <a:custGeom>
            <a:avLst/>
            <a:gdLst/>
            <a:ahLst/>
            <a:cxnLst/>
            <a:rect l="l" t="t" r="r" b="b"/>
            <a:pathLst>
              <a:path w="7253111" h="973667">
                <a:moveTo>
                  <a:pt x="0" y="0"/>
                </a:moveTo>
                <a:lnTo>
                  <a:pt x="7253111" y="0"/>
                </a:lnTo>
                <a:lnTo>
                  <a:pt x="7253111" y="973667"/>
                </a:lnTo>
                <a:lnTo>
                  <a:pt x="0" y="973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3833" y="8606348"/>
            <a:ext cx="28222" cy="973667"/>
          </a:xfrm>
          <a:custGeom>
            <a:avLst/>
            <a:gdLst/>
            <a:ahLst/>
            <a:cxnLst/>
            <a:rect l="l" t="t" r="r" b="b"/>
            <a:pathLst>
              <a:path w="28222" h="973667">
                <a:moveTo>
                  <a:pt x="0" y="0"/>
                </a:moveTo>
                <a:lnTo>
                  <a:pt x="28222" y="0"/>
                </a:lnTo>
                <a:lnTo>
                  <a:pt x="28222" y="973667"/>
                </a:lnTo>
                <a:lnTo>
                  <a:pt x="0" y="97366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Text 26"/>
          <p:cNvSpPr/>
          <p:nvPr/>
        </p:nvSpPr>
        <p:spPr>
          <a:xfrm>
            <a:off x="754944" y="8733348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SSH Access Control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4944" y="9029681"/>
            <a:ext cx="7059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SSH version 2 (secure)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4944" y="9241348"/>
            <a:ext cx="7059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Access-list: SSH-ADMIN-ACCESS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3833" y="9664681"/>
            <a:ext cx="7253111" cy="1016000"/>
          </a:xfrm>
          <a:custGeom>
            <a:avLst/>
            <a:gdLst/>
            <a:ahLst/>
            <a:cxnLst/>
            <a:rect l="l" t="t" r="r" b="b"/>
            <a:pathLst>
              <a:path w="7253111" h="1016000">
                <a:moveTo>
                  <a:pt x="0" y="0"/>
                </a:moveTo>
                <a:lnTo>
                  <a:pt x="7253111" y="0"/>
                </a:lnTo>
                <a:lnTo>
                  <a:pt x="7253111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Shape 30"/>
          <p:cNvSpPr/>
          <p:nvPr/>
        </p:nvSpPr>
        <p:spPr>
          <a:xfrm>
            <a:off x="613833" y="9664681"/>
            <a:ext cx="28222" cy="1016000"/>
          </a:xfrm>
          <a:custGeom>
            <a:avLst/>
            <a:gdLst/>
            <a:ahLst/>
            <a:cxnLst/>
            <a:rect l="l" t="t" r="r" b="b"/>
            <a:pathLst>
              <a:path w="28222" h="1016000">
                <a:moveTo>
                  <a:pt x="0" y="0"/>
                </a:moveTo>
                <a:lnTo>
                  <a:pt x="28222" y="0"/>
                </a:lnTo>
                <a:lnTo>
                  <a:pt x="28222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3" name="Text 31"/>
          <p:cNvSpPr/>
          <p:nvPr/>
        </p:nvSpPr>
        <p:spPr>
          <a:xfrm>
            <a:off x="754944" y="9791681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Authorized SSH Hosts (4)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4944" y="10088015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50.50.50.23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68611" y="10088015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50.50.50.22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4944" y="10342015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50.50.90.126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68611" y="10342015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50.50.60.21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3833" y="10765348"/>
            <a:ext cx="7253111" cy="762000"/>
          </a:xfrm>
          <a:custGeom>
            <a:avLst/>
            <a:gdLst/>
            <a:ahLst/>
            <a:cxnLst/>
            <a:rect l="l" t="t" r="r" b="b"/>
            <a:pathLst>
              <a:path w="7253111" h="762000">
                <a:moveTo>
                  <a:pt x="0" y="0"/>
                </a:moveTo>
                <a:lnTo>
                  <a:pt x="7253111" y="0"/>
                </a:lnTo>
                <a:lnTo>
                  <a:pt x="725311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613833" y="10765348"/>
            <a:ext cx="28222" cy="762000"/>
          </a:xfrm>
          <a:custGeom>
            <a:avLst/>
            <a:gdLst/>
            <a:ahLst/>
            <a:cxnLst/>
            <a:rect l="l" t="t" r="r" b="b"/>
            <a:pathLst>
              <a:path w="28222" h="762000">
                <a:moveTo>
                  <a:pt x="0" y="0"/>
                </a:moveTo>
                <a:lnTo>
                  <a:pt x="28222" y="0"/>
                </a:lnTo>
                <a:lnTo>
                  <a:pt x="28222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754944" y="10892348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AAA Authentication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4944" y="11188681"/>
            <a:ext cx="7059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&amp; RADIUS authentication with enable secret and privilege level 15 for admin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16194" y="1845028"/>
            <a:ext cx="7616472" cy="9860139"/>
          </a:xfrm>
          <a:custGeom>
            <a:avLst/>
            <a:gdLst/>
            <a:ahLst/>
            <a:cxnLst/>
            <a:rect l="l" t="t" r="r" b="b"/>
            <a:pathLst>
              <a:path w="7616472" h="9860139">
                <a:moveTo>
                  <a:pt x="0" y="0"/>
                </a:moveTo>
                <a:lnTo>
                  <a:pt x="7616472" y="0"/>
                </a:lnTo>
                <a:lnTo>
                  <a:pt x="7616472" y="9860139"/>
                </a:lnTo>
                <a:lnTo>
                  <a:pt x="0" y="9860139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5514" y="2060226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14846" y="3555"/>
                </a:moveTo>
                <a:cubicBezTo>
                  <a:pt x="109761" y="-1158"/>
                  <a:pt x="101906" y="-1158"/>
                  <a:pt x="96862" y="3555"/>
                </a:cubicBezTo>
                <a:lnTo>
                  <a:pt x="4258" y="89545"/>
                </a:lnTo>
                <a:cubicBezTo>
                  <a:pt x="289" y="93266"/>
                  <a:pt x="-1034" y="99012"/>
                  <a:pt x="951" y="104056"/>
                </a:cubicBezTo>
                <a:cubicBezTo>
                  <a:pt x="2935" y="109099"/>
                  <a:pt x="7772" y="112448"/>
                  <a:pt x="13229" y="112448"/>
                </a:cubicBezTo>
                <a:lnTo>
                  <a:pt x="19844" y="112448"/>
                </a:lnTo>
                <a:lnTo>
                  <a:pt x="19844" y="185208"/>
                </a:lnTo>
                <a:cubicBezTo>
                  <a:pt x="19844" y="199802"/>
                  <a:pt x="31709" y="211667"/>
                  <a:pt x="46302" y="211667"/>
                </a:cubicBezTo>
                <a:lnTo>
                  <a:pt x="165365" y="211667"/>
                </a:lnTo>
                <a:cubicBezTo>
                  <a:pt x="179958" y="211667"/>
                  <a:pt x="191823" y="199802"/>
                  <a:pt x="191823" y="185208"/>
                </a:cubicBezTo>
                <a:lnTo>
                  <a:pt x="191823" y="112448"/>
                </a:lnTo>
                <a:lnTo>
                  <a:pt x="198438" y="112448"/>
                </a:lnTo>
                <a:cubicBezTo>
                  <a:pt x="203895" y="112448"/>
                  <a:pt x="208773" y="109099"/>
                  <a:pt x="210757" y="104056"/>
                </a:cubicBezTo>
                <a:cubicBezTo>
                  <a:pt x="212742" y="99012"/>
                  <a:pt x="211419" y="93224"/>
                  <a:pt x="207450" y="89545"/>
                </a:cubicBezTo>
                <a:lnTo>
                  <a:pt x="114846" y="3555"/>
                </a:lnTo>
                <a:close/>
                <a:moveTo>
                  <a:pt x="99219" y="132292"/>
                </a:moveTo>
                <a:lnTo>
                  <a:pt x="112448" y="132292"/>
                </a:lnTo>
                <a:cubicBezTo>
                  <a:pt x="123403" y="132292"/>
                  <a:pt x="132292" y="141180"/>
                  <a:pt x="132292" y="152135"/>
                </a:cubicBezTo>
                <a:lnTo>
                  <a:pt x="132292" y="191823"/>
                </a:lnTo>
                <a:lnTo>
                  <a:pt x="79375" y="191823"/>
                </a:lnTo>
                <a:lnTo>
                  <a:pt x="79375" y="152135"/>
                </a:lnTo>
                <a:cubicBezTo>
                  <a:pt x="79375" y="141180"/>
                  <a:pt x="88263" y="132292"/>
                  <a:pt x="99219" y="13229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Text 42"/>
          <p:cNvSpPr/>
          <p:nvPr/>
        </p:nvSpPr>
        <p:spPr>
          <a:xfrm>
            <a:off x="8653639" y="2017892"/>
            <a:ext cx="7112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Security System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92584" y="2444753"/>
            <a:ext cx="7256639" cy="2547056"/>
          </a:xfrm>
          <a:custGeom>
            <a:avLst/>
            <a:gdLst/>
            <a:ahLst/>
            <a:cxnLst/>
            <a:rect l="l" t="t" r="r" b="b"/>
            <a:pathLst>
              <a:path w="7256639" h="2547056">
                <a:moveTo>
                  <a:pt x="0" y="0"/>
                </a:moveTo>
                <a:lnTo>
                  <a:pt x="7256639" y="0"/>
                </a:lnTo>
                <a:lnTo>
                  <a:pt x="7256639" y="2547056"/>
                </a:lnTo>
                <a:lnTo>
                  <a:pt x="0" y="25470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5487" y="2575280"/>
            <a:ext cx="7090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Components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65191" y="2998613"/>
            <a:ext cx="357188" cy="317500"/>
          </a:xfrm>
          <a:custGeom>
            <a:avLst/>
            <a:gdLst/>
            <a:ahLst/>
            <a:cxnLst/>
            <a:rect l="l" t="t" r="r" b="b"/>
            <a:pathLst>
              <a:path w="357188" h="317500">
                <a:moveTo>
                  <a:pt x="59531" y="39688"/>
                </a:moveTo>
                <a:cubicBezTo>
                  <a:pt x="37641" y="39688"/>
                  <a:pt x="19844" y="57485"/>
                  <a:pt x="19844" y="79375"/>
                </a:cubicBezTo>
                <a:lnTo>
                  <a:pt x="19844" y="238125"/>
                </a:lnTo>
                <a:cubicBezTo>
                  <a:pt x="19844" y="260015"/>
                  <a:pt x="37641" y="277813"/>
                  <a:pt x="59531" y="277813"/>
                </a:cubicBezTo>
                <a:lnTo>
                  <a:pt x="218281" y="277813"/>
                </a:lnTo>
                <a:cubicBezTo>
                  <a:pt x="240171" y="277813"/>
                  <a:pt x="257969" y="260015"/>
                  <a:pt x="257969" y="238125"/>
                </a:cubicBezTo>
                <a:lnTo>
                  <a:pt x="257969" y="79375"/>
                </a:lnTo>
                <a:cubicBezTo>
                  <a:pt x="257969" y="57485"/>
                  <a:pt x="240171" y="39688"/>
                  <a:pt x="218281" y="39688"/>
                </a:cubicBezTo>
                <a:lnTo>
                  <a:pt x="59531" y="39688"/>
                </a:lnTo>
                <a:close/>
                <a:moveTo>
                  <a:pt x="287734" y="208359"/>
                </a:moveTo>
                <a:lnTo>
                  <a:pt x="333313" y="244822"/>
                </a:lnTo>
                <a:cubicBezTo>
                  <a:pt x="335917" y="246931"/>
                  <a:pt x="339142" y="248047"/>
                  <a:pt x="342491" y="248047"/>
                </a:cubicBezTo>
                <a:cubicBezTo>
                  <a:pt x="350614" y="248047"/>
                  <a:pt x="357188" y="241474"/>
                  <a:pt x="357188" y="233350"/>
                </a:cubicBezTo>
                <a:lnTo>
                  <a:pt x="357188" y="84150"/>
                </a:lnTo>
                <a:cubicBezTo>
                  <a:pt x="357188" y="76026"/>
                  <a:pt x="350614" y="69453"/>
                  <a:pt x="342491" y="69453"/>
                </a:cubicBezTo>
                <a:cubicBezTo>
                  <a:pt x="339142" y="69453"/>
                  <a:pt x="335917" y="70569"/>
                  <a:pt x="333313" y="72678"/>
                </a:cubicBezTo>
                <a:lnTo>
                  <a:pt x="287734" y="109141"/>
                </a:lnTo>
                <a:lnTo>
                  <a:pt x="287734" y="20835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8480778" y="3400780"/>
            <a:ext cx="352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86070" y="3654780"/>
            <a:ext cx="351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ON (24/7)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3648091" y="29986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cubicBezTo>
                  <a:pt x="167866" y="0"/>
                  <a:pt x="176237" y="5023"/>
                  <a:pt x="180578" y="13022"/>
                </a:cubicBezTo>
                <a:lnTo>
                  <a:pt x="314523" y="261069"/>
                </a:lnTo>
                <a:cubicBezTo>
                  <a:pt x="318678" y="268759"/>
                  <a:pt x="318492" y="278061"/>
                  <a:pt x="314027" y="285564"/>
                </a:cubicBezTo>
                <a:cubicBezTo>
                  <a:pt x="309562" y="293067"/>
                  <a:pt x="301439" y="297656"/>
                  <a:pt x="292695" y="297656"/>
                </a:cubicBezTo>
                <a:lnTo>
                  <a:pt x="24805" y="297656"/>
                </a:lnTo>
                <a:cubicBezTo>
                  <a:pt x="16061" y="297656"/>
                  <a:pt x="8000" y="293067"/>
                  <a:pt x="3473" y="285564"/>
                </a:cubicBezTo>
                <a:cubicBezTo>
                  <a:pt x="-1054" y="278061"/>
                  <a:pt x="-1178" y="268759"/>
                  <a:pt x="2977" y="261069"/>
                </a:cubicBezTo>
                <a:lnTo>
                  <a:pt x="136922" y="13022"/>
                </a:lnTo>
                <a:cubicBezTo>
                  <a:pt x="141263" y="5023"/>
                  <a:pt x="149634" y="0"/>
                  <a:pt x="158750" y="0"/>
                </a:cubicBezTo>
                <a:close/>
                <a:moveTo>
                  <a:pt x="158750" y="104180"/>
                </a:moveTo>
                <a:cubicBezTo>
                  <a:pt x="150502" y="104180"/>
                  <a:pt x="143867" y="110815"/>
                  <a:pt x="143867" y="119062"/>
                </a:cubicBezTo>
                <a:lnTo>
                  <a:pt x="143867" y="188516"/>
                </a:lnTo>
                <a:cubicBezTo>
                  <a:pt x="143867" y="196763"/>
                  <a:pt x="150502" y="203398"/>
                  <a:pt x="158750" y="203398"/>
                </a:cubicBezTo>
                <a:cubicBezTo>
                  <a:pt x="166998" y="203398"/>
                  <a:pt x="173633" y="196763"/>
                  <a:pt x="173633" y="188516"/>
                </a:cubicBezTo>
                <a:lnTo>
                  <a:pt x="173633" y="119062"/>
                </a:lnTo>
                <a:cubicBezTo>
                  <a:pt x="173633" y="110815"/>
                  <a:pt x="166998" y="104180"/>
                  <a:pt x="158750" y="104180"/>
                </a:cubicBezTo>
                <a:close/>
                <a:moveTo>
                  <a:pt x="175307" y="238125"/>
                </a:moveTo>
                <a:cubicBezTo>
                  <a:pt x="175684" y="231979"/>
                  <a:pt x="172619" y="226132"/>
                  <a:pt x="167350" y="222945"/>
                </a:cubicBezTo>
                <a:cubicBezTo>
                  <a:pt x="162082" y="219758"/>
                  <a:pt x="155480" y="219758"/>
                  <a:pt x="150212" y="222945"/>
                </a:cubicBezTo>
                <a:cubicBezTo>
                  <a:pt x="144943" y="226132"/>
                  <a:pt x="141878" y="231979"/>
                  <a:pt x="142255" y="238125"/>
                </a:cubicBezTo>
                <a:cubicBezTo>
                  <a:pt x="141878" y="244271"/>
                  <a:pt x="144943" y="250118"/>
                  <a:pt x="150212" y="253305"/>
                </a:cubicBezTo>
                <a:cubicBezTo>
                  <a:pt x="155480" y="256492"/>
                  <a:pt x="162082" y="256492"/>
                  <a:pt x="167350" y="253305"/>
                </a:cubicBezTo>
                <a:cubicBezTo>
                  <a:pt x="172619" y="250118"/>
                  <a:pt x="175684" y="244271"/>
                  <a:pt x="175307" y="2381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9"/>
          <p:cNvSpPr/>
          <p:nvPr/>
        </p:nvSpPr>
        <p:spPr>
          <a:xfrm>
            <a:off x="12043833" y="3400780"/>
            <a:ext cx="352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Motion Detector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049125" y="3654780"/>
            <a:ext cx="351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 based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045347" y="3993446"/>
            <a:ext cx="396875" cy="317500"/>
          </a:xfrm>
          <a:custGeom>
            <a:avLst/>
            <a:gdLst/>
            <a:ahLst/>
            <a:cxnLst/>
            <a:rect l="l" t="t" r="r" b="b"/>
            <a:pathLst>
              <a:path w="396875" h="317500">
                <a:moveTo>
                  <a:pt x="330895" y="20154"/>
                </a:moveTo>
                <a:cubicBezTo>
                  <a:pt x="324507" y="14945"/>
                  <a:pt x="315144" y="15937"/>
                  <a:pt x="309935" y="22324"/>
                </a:cubicBezTo>
                <a:cubicBezTo>
                  <a:pt x="304726" y="28711"/>
                  <a:pt x="305718" y="38075"/>
                  <a:pt x="312105" y="43284"/>
                </a:cubicBezTo>
                <a:cubicBezTo>
                  <a:pt x="345715" y="70569"/>
                  <a:pt x="367109" y="112117"/>
                  <a:pt x="367109" y="158750"/>
                </a:cubicBezTo>
                <a:cubicBezTo>
                  <a:pt x="367109" y="205383"/>
                  <a:pt x="345715" y="246931"/>
                  <a:pt x="312105" y="274278"/>
                </a:cubicBezTo>
                <a:cubicBezTo>
                  <a:pt x="305718" y="279487"/>
                  <a:pt x="304788" y="288851"/>
                  <a:pt x="309935" y="295238"/>
                </a:cubicBezTo>
                <a:cubicBezTo>
                  <a:pt x="315082" y="301625"/>
                  <a:pt x="324507" y="302555"/>
                  <a:pt x="330895" y="297408"/>
                </a:cubicBezTo>
                <a:cubicBezTo>
                  <a:pt x="371140" y="264604"/>
                  <a:pt x="396875" y="214685"/>
                  <a:pt x="396875" y="158750"/>
                </a:cubicBezTo>
                <a:cubicBezTo>
                  <a:pt x="396875" y="102815"/>
                  <a:pt x="371140" y="52834"/>
                  <a:pt x="330895" y="20154"/>
                </a:cubicBezTo>
                <a:close/>
                <a:moveTo>
                  <a:pt x="293377" y="66353"/>
                </a:moveTo>
                <a:cubicBezTo>
                  <a:pt x="286990" y="61144"/>
                  <a:pt x="277626" y="62136"/>
                  <a:pt x="272417" y="68523"/>
                </a:cubicBezTo>
                <a:cubicBezTo>
                  <a:pt x="267208" y="74910"/>
                  <a:pt x="268201" y="84274"/>
                  <a:pt x="274588" y="89483"/>
                </a:cubicBezTo>
                <a:cubicBezTo>
                  <a:pt x="294742" y="105854"/>
                  <a:pt x="307578" y="130783"/>
                  <a:pt x="307578" y="158750"/>
                </a:cubicBezTo>
                <a:cubicBezTo>
                  <a:pt x="307578" y="186717"/>
                  <a:pt x="294742" y="211646"/>
                  <a:pt x="274588" y="228079"/>
                </a:cubicBezTo>
                <a:cubicBezTo>
                  <a:pt x="268201" y="233288"/>
                  <a:pt x="267271" y="242652"/>
                  <a:pt x="272417" y="249039"/>
                </a:cubicBezTo>
                <a:cubicBezTo>
                  <a:pt x="277564" y="255426"/>
                  <a:pt x="286990" y="256356"/>
                  <a:pt x="293377" y="251209"/>
                </a:cubicBezTo>
                <a:cubicBezTo>
                  <a:pt x="320167" y="229381"/>
                  <a:pt x="337344" y="196081"/>
                  <a:pt x="337344" y="158812"/>
                </a:cubicBezTo>
                <a:cubicBezTo>
                  <a:pt x="337344" y="121543"/>
                  <a:pt x="320167" y="88243"/>
                  <a:pt x="293377" y="66415"/>
                </a:cubicBezTo>
                <a:close/>
                <a:moveTo>
                  <a:pt x="255860" y="112551"/>
                </a:moveTo>
                <a:cubicBezTo>
                  <a:pt x="249473" y="107342"/>
                  <a:pt x="240109" y="108334"/>
                  <a:pt x="234900" y="114722"/>
                </a:cubicBezTo>
                <a:cubicBezTo>
                  <a:pt x="229691" y="121109"/>
                  <a:pt x="230684" y="130473"/>
                  <a:pt x="237071" y="135682"/>
                </a:cubicBezTo>
                <a:cubicBezTo>
                  <a:pt x="243768" y="141139"/>
                  <a:pt x="248047" y="149448"/>
                  <a:pt x="248047" y="158750"/>
                </a:cubicBezTo>
                <a:cubicBezTo>
                  <a:pt x="248047" y="168052"/>
                  <a:pt x="243768" y="176361"/>
                  <a:pt x="237071" y="181880"/>
                </a:cubicBezTo>
                <a:cubicBezTo>
                  <a:pt x="230684" y="187089"/>
                  <a:pt x="229753" y="196453"/>
                  <a:pt x="234900" y="202840"/>
                </a:cubicBezTo>
                <a:cubicBezTo>
                  <a:pt x="240047" y="209228"/>
                  <a:pt x="249473" y="210158"/>
                  <a:pt x="255860" y="205011"/>
                </a:cubicBezTo>
                <a:cubicBezTo>
                  <a:pt x="269193" y="194035"/>
                  <a:pt x="277813" y="177416"/>
                  <a:pt x="277813" y="158750"/>
                </a:cubicBezTo>
                <a:cubicBezTo>
                  <a:pt x="277813" y="140084"/>
                  <a:pt x="269193" y="123465"/>
                  <a:pt x="255860" y="112551"/>
                </a:cubicBezTo>
                <a:close/>
                <a:moveTo>
                  <a:pt x="49609" y="218281"/>
                </a:moveTo>
                <a:lnTo>
                  <a:pt x="79375" y="218281"/>
                </a:lnTo>
                <a:lnTo>
                  <a:pt x="162533" y="292199"/>
                </a:lnTo>
                <a:cubicBezTo>
                  <a:pt x="166501" y="295734"/>
                  <a:pt x="171586" y="297656"/>
                  <a:pt x="176857" y="297656"/>
                </a:cubicBezTo>
                <a:cubicBezTo>
                  <a:pt x="188764" y="297656"/>
                  <a:pt x="198438" y="287982"/>
                  <a:pt x="198438" y="276076"/>
                </a:cubicBezTo>
                <a:lnTo>
                  <a:pt x="198438" y="41424"/>
                </a:lnTo>
                <a:cubicBezTo>
                  <a:pt x="198438" y="29518"/>
                  <a:pt x="188764" y="19844"/>
                  <a:pt x="176857" y="19844"/>
                </a:cubicBezTo>
                <a:cubicBezTo>
                  <a:pt x="171586" y="19844"/>
                  <a:pt x="166501" y="21766"/>
                  <a:pt x="162533" y="25301"/>
                </a:cubicBezTo>
                <a:lnTo>
                  <a:pt x="79375" y="99219"/>
                </a:lnTo>
                <a:lnTo>
                  <a:pt x="49609" y="99219"/>
                </a:lnTo>
                <a:cubicBezTo>
                  <a:pt x="33176" y="99219"/>
                  <a:pt x="19844" y="112551"/>
                  <a:pt x="19844" y="128984"/>
                </a:cubicBezTo>
                <a:lnTo>
                  <a:pt x="19844" y="188516"/>
                </a:lnTo>
                <a:cubicBezTo>
                  <a:pt x="19844" y="204949"/>
                  <a:pt x="33176" y="218281"/>
                  <a:pt x="49609" y="21828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2"/>
          <p:cNvSpPr/>
          <p:nvPr/>
        </p:nvSpPr>
        <p:spPr>
          <a:xfrm>
            <a:off x="8480778" y="4395613"/>
            <a:ext cx="352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Siren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86070" y="4649613"/>
            <a:ext cx="351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Motion activated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3687778" y="3993446"/>
            <a:ext cx="238125" cy="317500"/>
          </a:xfrm>
          <a:custGeom>
            <a:avLst/>
            <a:gdLst/>
            <a:ahLst/>
            <a:cxnLst/>
            <a:rect l="l" t="t" r="r" b="b"/>
            <a:pathLst>
              <a:path w="238125" h="317500">
                <a:moveTo>
                  <a:pt x="79375" y="59531"/>
                </a:moveTo>
                <a:lnTo>
                  <a:pt x="79375" y="99219"/>
                </a:lnTo>
                <a:lnTo>
                  <a:pt x="158750" y="99219"/>
                </a:lnTo>
                <a:lnTo>
                  <a:pt x="158750" y="59531"/>
                </a:lnTo>
                <a:cubicBezTo>
                  <a:pt x="158750" y="37641"/>
                  <a:pt x="140953" y="19844"/>
                  <a:pt x="119062" y="19844"/>
                </a:cubicBezTo>
                <a:cubicBezTo>
                  <a:pt x="97172" y="19844"/>
                  <a:pt x="79375" y="37641"/>
                  <a:pt x="79375" y="59531"/>
                </a:cubicBezTo>
                <a:close/>
                <a:moveTo>
                  <a:pt x="39688" y="99219"/>
                </a:moveTo>
                <a:lnTo>
                  <a:pt x="39688" y="59531"/>
                </a:lnTo>
                <a:cubicBezTo>
                  <a:pt x="39688" y="15689"/>
                  <a:pt x="75220" y="-19844"/>
                  <a:pt x="119062" y="-19844"/>
                </a:cubicBezTo>
                <a:cubicBezTo>
                  <a:pt x="162905" y="-19844"/>
                  <a:pt x="198438" y="15689"/>
                  <a:pt x="198438" y="59531"/>
                </a:cubicBezTo>
                <a:lnTo>
                  <a:pt x="198438" y="99219"/>
                </a:lnTo>
                <a:cubicBezTo>
                  <a:pt x="220328" y="99219"/>
                  <a:pt x="238125" y="117016"/>
                  <a:pt x="238125" y="138906"/>
                </a:cubicBezTo>
                <a:lnTo>
                  <a:pt x="238125" y="277813"/>
                </a:lnTo>
                <a:cubicBezTo>
                  <a:pt x="238125" y="299703"/>
                  <a:pt x="220328" y="317500"/>
                  <a:pt x="198438" y="317500"/>
                </a:cubicBezTo>
                <a:lnTo>
                  <a:pt x="39688" y="317500"/>
                </a:lnTo>
                <a:cubicBezTo>
                  <a:pt x="17797" y="317500"/>
                  <a:pt x="0" y="299703"/>
                  <a:pt x="0" y="277813"/>
                </a:cubicBezTo>
                <a:lnTo>
                  <a:pt x="0" y="138906"/>
                </a:lnTo>
                <a:cubicBezTo>
                  <a:pt x="0" y="117016"/>
                  <a:pt x="17797" y="99219"/>
                  <a:pt x="39688" y="9921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7" name="Text 55"/>
          <p:cNvSpPr/>
          <p:nvPr/>
        </p:nvSpPr>
        <p:spPr>
          <a:xfrm>
            <a:off x="12043833" y="4395613"/>
            <a:ext cx="352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Door Locks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049125" y="4649613"/>
            <a:ext cx="351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lock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92584" y="5125861"/>
            <a:ext cx="7256639" cy="2134306"/>
          </a:xfrm>
          <a:custGeom>
            <a:avLst/>
            <a:gdLst/>
            <a:ahLst/>
            <a:cxnLst/>
            <a:rect l="l" t="t" r="r" b="b"/>
            <a:pathLst>
              <a:path w="7256639" h="2134306">
                <a:moveTo>
                  <a:pt x="0" y="0"/>
                </a:moveTo>
                <a:lnTo>
                  <a:pt x="7256639" y="0"/>
                </a:lnTo>
                <a:lnTo>
                  <a:pt x="7256639" y="2134306"/>
                </a:lnTo>
                <a:lnTo>
                  <a:pt x="0" y="213430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17820" y="5298726"/>
            <a:ext cx="7006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Logic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667669" y="5722059"/>
            <a:ext cx="2709333" cy="423333"/>
          </a:xfrm>
          <a:custGeom>
            <a:avLst/>
            <a:gdLst/>
            <a:ahLst/>
            <a:cxnLst/>
            <a:rect l="l" t="t" r="r" b="b"/>
            <a:pathLst>
              <a:path w="2709333" h="423333">
                <a:moveTo>
                  <a:pt x="0" y="0"/>
                </a:moveTo>
                <a:lnTo>
                  <a:pt x="2709333" y="0"/>
                </a:lnTo>
                <a:lnTo>
                  <a:pt x="2709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2" name="Text 60"/>
          <p:cNvSpPr/>
          <p:nvPr/>
        </p:nvSpPr>
        <p:spPr>
          <a:xfrm>
            <a:off x="10625336" y="5722059"/>
            <a:ext cx="2794000" cy="423333"/>
          </a:xfrm>
          <a:prstGeom prst="rect">
            <a:avLst/>
          </a:prstGeom>
          <a:noFill/>
          <a:ln/>
        </p:spPr>
        <p:txBody>
          <a:bodyPr wrap="square" lIns="169333" tIns="84667" rIns="169333" bIns="84667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Motion Detected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927307" y="6272392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84038" y="249337"/>
                </a:moveTo>
                <a:cubicBezTo>
                  <a:pt x="90239" y="255538"/>
                  <a:pt x="100310" y="255538"/>
                  <a:pt x="106511" y="249337"/>
                </a:cubicBezTo>
                <a:lnTo>
                  <a:pt x="185886" y="169962"/>
                </a:lnTo>
                <a:cubicBezTo>
                  <a:pt x="192087" y="163761"/>
                  <a:pt x="192087" y="153690"/>
                  <a:pt x="185886" y="147489"/>
                </a:cubicBezTo>
                <a:cubicBezTo>
                  <a:pt x="179685" y="141288"/>
                  <a:pt x="169614" y="141288"/>
                  <a:pt x="163413" y="147489"/>
                </a:cubicBezTo>
                <a:lnTo>
                  <a:pt x="111125" y="199777"/>
                </a:lnTo>
                <a:lnTo>
                  <a:pt x="111125" y="15875"/>
                </a:lnTo>
                <a:cubicBezTo>
                  <a:pt x="111125" y="7094"/>
                  <a:pt x="104031" y="0"/>
                  <a:pt x="95250" y="0"/>
                </a:cubicBezTo>
                <a:cubicBezTo>
                  <a:pt x="86469" y="0"/>
                  <a:pt x="79375" y="7094"/>
                  <a:pt x="79375" y="15875"/>
                </a:cubicBezTo>
                <a:lnTo>
                  <a:pt x="79375" y="199777"/>
                </a:lnTo>
                <a:lnTo>
                  <a:pt x="27087" y="147489"/>
                </a:lnTo>
                <a:cubicBezTo>
                  <a:pt x="20886" y="141287"/>
                  <a:pt x="10815" y="141287"/>
                  <a:pt x="4614" y="147489"/>
                </a:cubicBezTo>
                <a:cubicBezTo>
                  <a:pt x="-1588" y="153690"/>
                  <a:pt x="-1588" y="163761"/>
                  <a:pt x="4614" y="169962"/>
                </a:cubicBezTo>
                <a:lnTo>
                  <a:pt x="83989" y="24933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671197" y="6656920"/>
            <a:ext cx="1001889" cy="430389"/>
          </a:xfrm>
          <a:custGeom>
            <a:avLst/>
            <a:gdLst/>
            <a:ahLst/>
            <a:cxnLst/>
            <a:rect l="l" t="t" r="r" b="b"/>
            <a:pathLst>
              <a:path w="1001889" h="430389">
                <a:moveTo>
                  <a:pt x="0" y="0"/>
                </a:moveTo>
                <a:lnTo>
                  <a:pt x="1001889" y="0"/>
                </a:lnTo>
                <a:lnTo>
                  <a:pt x="1001889" y="430389"/>
                </a:lnTo>
                <a:lnTo>
                  <a:pt x="0" y="43038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25336" y="6653392"/>
            <a:ext cx="1079500" cy="423333"/>
          </a:xfrm>
          <a:prstGeom prst="rect">
            <a:avLst/>
          </a:prstGeom>
          <a:noFill/>
          <a:ln/>
        </p:spPr>
        <p:txBody>
          <a:bodyPr wrap="square" lIns="127000" tIns="84667" rIns="127000" bIns="84667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Siren: </a:t>
            </a: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1852121" y="6656920"/>
            <a:ext cx="1520472" cy="430389"/>
          </a:xfrm>
          <a:custGeom>
            <a:avLst/>
            <a:gdLst/>
            <a:ahLst/>
            <a:cxnLst/>
            <a:rect l="l" t="t" r="r" b="b"/>
            <a:pathLst>
              <a:path w="1520472" h="430389">
                <a:moveTo>
                  <a:pt x="0" y="0"/>
                </a:moveTo>
                <a:lnTo>
                  <a:pt x="1520472" y="0"/>
                </a:lnTo>
                <a:lnTo>
                  <a:pt x="1520472" y="430389"/>
                </a:lnTo>
                <a:lnTo>
                  <a:pt x="0" y="43038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806260" y="6653392"/>
            <a:ext cx="1598083" cy="423333"/>
          </a:xfrm>
          <a:prstGeom prst="rect">
            <a:avLst/>
          </a:prstGeom>
          <a:noFill/>
          <a:ln/>
        </p:spPr>
        <p:txBody>
          <a:bodyPr wrap="square" lIns="127000" tIns="84667" rIns="127000" bIns="84667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Doors: </a:t>
            </a: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LOCK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92584" y="7397753"/>
            <a:ext cx="7256639" cy="769056"/>
          </a:xfrm>
          <a:custGeom>
            <a:avLst/>
            <a:gdLst/>
            <a:ahLst/>
            <a:cxnLst/>
            <a:rect l="l" t="t" r="r" b="b"/>
            <a:pathLst>
              <a:path w="7256639" h="769056">
                <a:moveTo>
                  <a:pt x="0" y="0"/>
                </a:moveTo>
                <a:lnTo>
                  <a:pt x="7256639" y="0"/>
                </a:lnTo>
                <a:lnTo>
                  <a:pt x="7256639" y="769056"/>
                </a:lnTo>
                <a:lnTo>
                  <a:pt x="0" y="7690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23112" y="7528280"/>
            <a:ext cx="708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Server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523112" y="7824613"/>
            <a:ext cx="7069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50.50.10.17 | </a:t>
            </a: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IoT Registration Server | </a:t>
            </a: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Username: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pesi123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26861" y="11834263"/>
            <a:ext cx="15405806" cy="515056"/>
          </a:xfrm>
          <a:custGeom>
            <a:avLst/>
            <a:gdLst/>
            <a:ahLst/>
            <a:cxnLst/>
            <a:rect l="l" t="t" r="r" b="b"/>
            <a:pathLst>
              <a:path w="15405806" h="515056">
                <a:moveTo>
                  <a:pt x="0" y="0"/>
                </a:moveTo>
                <a:lnTo>
                  <a:pt x="15405806" y="0"/>
                </a:lnTo>
                <a:lnTo>
                  <a:pt x="15405806" y="515056"/>
                </a:lnTo>
                <a:lnTo>
                  <a:pt x="0" y="51505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389" y="11964789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Centralized Syslog (50.50.10.16) | NTP Synchronized | HSRP State Tracking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80290fe5fbff7c86c208e0e03811608d959885ce.jp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3400" y="2743200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A9B4C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3455" y="3073400"/>
            <a:ext cx="157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0" y="29210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7" name="Text 4"/>
          <p:cNvSpPr/>
          <p:nvPr/>
        </p:nvSpPr>
        <p:spPr>
          <a:xfrm>
            <a:off x="2997200" y="1892300"/>
            <a:ext cx="6350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Branch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Networks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97200" y="3924300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9" name="Text 6"/>
          <p:cNvSpPr/>
          <p:nvPr/>
        </p:nvSpPr>
        <p:spPr>
          <a:xfrm>
            <a:off x="2997200" y="4178300"/>
            <a:ext cx="807527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Remote office configurations with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scalable architecture and redundant connectivity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57785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1" name="Text 8"/>
          <p:cNvSpPr/>
          <p:nvPr/>
        </p:nvSpPr>
        <p:spPr>
          <a:xfrm>
            <a:off x="863600" y="5778500"/>
            <a:ext cx="254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" y="6489700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 Sites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" y="68961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offices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28074" y="57785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5" name="Text 12"/>
          <p:cNvSpPr/>
          <p:nvPr/>
        </p:nvSpPr>
        <p:spPr>
          <a:xfrm>
            <a:off x="3758274" y="5778500"/>
            <a:ext cx="254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58274" y="6489700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758274" y="68961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everything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22748" y="57785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9" name="Text 16"/>
          <p:cNvSpPr/>
          <p:nvPr/>
        </p:nvSpPr>
        <p:spPr>
          <a:xfrm>
            <a:off x="6652948" y="5778500"/>
            <a:ext cx="254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1,200+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52948" y="6489700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Capacity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52948" y="68961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branch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861" y="426861"/>
            <a:ext cx="2039056" cy="356306"/>
          </a:xfrm>
          <a:custGeom>
            <a:avLst/>
            <a:gdLst/>
            <a:ahLst/>
            <a:cxnLst/>
            <a:rect l="l" t="t" r="r" b="b"/>
            <a:pathLst>
              <a:path w="2039056" h="356306">
                <a:moveTo>
                  <a:pt x="0" y="0"/>
                </a:moveTo>
                <a:lnTo>
                  <a:pt x="2039056" y="0"/>
                </a:lnTo>
                <a:lnTo>
                  <a:pt x="2039056" y="356306"/>
                </a:lnTo>
                <a:lnTo>
                  <a:pt x="0" y="356306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 w="8467">
            <a:solidFill>
              <a:srgbClr val="A9B4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389" y="479774"/>
            <a:ext cx="1862005" cy="24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NETWORKS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2: Scalable Remote Office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504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remote site with HSRPv2, serial backup, and inter-branch connectivity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861" y="1802694"/>
            <a:ext cx="8399639" cy="9225139"/>
          </a:xfrm>
          <a:custGeom>
            <a:avLst/>
            <a:gdLst/>
            <a:ahLst/>
            <a:cxnLst/>
            <a:rect l="l" t="t" r="r" b="b"/>
            <a:pathLst>
              <a:path w="8399639" h="9225139">
                <a:moveTo>
                  <a:pt x="0" y="0"/>
                </a:moveTo>
                <a:lnTo>
                  <a:pt x="8399639" y="0"/>
                </a:lnTo>
                <a:lnTo>
                  <a:pt x="8399639" y="9225139"/>
                </a:lnTo>
                <a:lnTo>
                  <a:pt x="0" y="9225139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3847" y="19861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8" name="Text 6"/>
          <p:cNvSpPr/>
          <p:nvPr/>
        </p:nvSpPr>
        <p:spPr>
          <a:xfrm>
            <a:off x="800806" y="1933220"/>
            <a:ext cx="7990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Infrastructure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917" y="2317748"/>
            <a:ext cx="8135056" cy="1319389"/>
          </a:xfrm>
          <a:custGeom>
            <a:avLst/>
            <a:gdLst/>
            <a:ahLst/>
            <a:cxnLst/>
            <a:rect l="l" t="t" r="r" b="b"/>
            <a:pathLst>
              <a:path w="8135056" h="1319389">
                <a:moveTo>
                  <a:pt x="0" y="0"/>
                </a:moveTo>
                <a:lnTo>
                  <a:pt x="8135056" y="0"/>
                </a:lnTo>
                <a:lnTo>
                  <a:pt x="8135056" y="1319389"/>
                </a:lnTo>
                <a:lnTo>
                  <a:pt x="0" y="131938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444" y="2448274"/>
            <a:ext cx="796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L3 Core Switches (HSRPv2)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5556" y="2829274"/>
            <a:ext cx="28222" cy="677333"/>
          </a:xfrm>
          <a:custGeom>
            <a:avLst/>
            <a:gdLst/>
            <a:ahLst/>
            <a:cxnLst/>
            <a:rect l="l" t="t" r="r" b="b"/>
            <a:pathLst>
              <a:path w="28222" h="677333">
                <a:moveTo>
                  <a:pt x="0" y="0"/>
                </a:moveTo>
                <a:lnTo>
                  <a:pt x="28222" y="0"/>
                </a:lnTo>
                <a:lnTo>
                  <a:pt x="28222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2" name="Text 10"/>
          <p:cNvSpPr/>
          <p:nvPr/>
        </p:nvSpPr>
        <p:spPr>
          <a:xfrm>
            <a:off x="846667" y="2829274"/>
            <a:ext cx="3799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Core-Main-L3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667" y="3083274"/>
            <a:ext cx="3788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10.20.255.3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6667" y="3294941"/>
            <a:ext cx="3788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Priority: 110 (Active)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3520" y="2829274"/>
            <a:ext cx="28222" cy="677333"/>
          </a:xfrm>
          <a:custGeom>
            <a:avLst/>
            <a:gdLst/>
            <a:ahLst/>
            <a:cxnLst/>
            <a:rect l="l" t="t" r="r" b="b"/>
            <a:pathLst>
              <a:path w="28222" h="677333">
                <a:moveTo>
                  <a:pt x="0" y="0"/>
                </a:moveTo>
                <a:lnTo>
                  <a:pt x="28222" y="0"/>
                </a:lnTo>
                <a:lnTo>
                  <a:pt x="28222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4631" y="2829274"/>
            <a:ext cx="3799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Core-Standby-L3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4631" y="3083274"/>
            <a:ext cx="3788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10.20.255.4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4631" y="3294941"/>
            <a:ext cx="3788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F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Priority: 100 (Standby)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0917" y="3728861"/>
            <a:ext cx="8135056" cy="2134306"/>
          </a:xfrm>
          <a:custGeom>
            <a:avLst/>
            <a:gdLst/>
            <a:ahLst/>
            <a:cxnLst/>
            <a:rect l="l" t="t" r="r" b="b"/>
            <a:pathLst>
              <a:path w="8135056" h="2134306">
                <a:moveTo>
                  <a:pt x="0" y="0"/>
                </a:moveTo>
                <a:lnTo>
                  <a:pt x="8135056" y="0"/>
                </a:lnTo>
                <a:lnTo>
                  <a:pt x="8135056" y="2134306"/>
                </a:lnTo>
                <a:lnTo>
                  <a:pt x="0" y="213430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444" y="3859387"/>
            <a:ext cx="796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Edge Routers with Backup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5556" y="4240387"/>
            <a:ext cx="28222" cy="465667"/>
          </a:xfrm>
          <a:custGeom>
            <a:avLst/>
            <a:gdLst/>
            <a:ahLst/>
            <a:cxnLst/>
            <a:rect l="l" t="t" r="r" b="b"/>
            <a:pathLst>
              <a:path w="28222" h="465667">
                <a:moveTo>
                  <a:pt x="0" y="0"/>
                </a:moveTo>
                <a:lnTo>
                  <a:pt x="28222" y="0"/>
                </a:lnTo>
                <a:lnTo>
                  <a:pt x="28222" y="465667"/>
                </a:lnTo>
                <a:lnTo>
                  <a:pt x="0" y="465667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2" name="Text 20"/>
          <p:cNvSpPr/>
          <p:nvPr/>
        </p:nvSpPr>
        <p:spPr>
          <a:xfrm>
            <a:off x="846667" y="4240387"/>
            <a:ext cx="257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Branch-CORE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6667" y="4494387"/>
            <a:ext cx="2561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10.20.200.1 | HSRP Priority: 110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63216" y="4367387"/>
            <a:ext cx="97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WAN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5556" y="4790720"/>
            <a:ext cx="28222" cy="465667"/>
          </a:xfrm>
          <a:custGeom>
            <a:avLst/>
            <a:gdLst/>
            <a:ahLst/>
            <a:cxnLst/>
            <a:rect l="l" t="t" r="r" b="b"/>
            <a:pathLst>
              <a:path w="28222" h="465667">
                <a:moveTo>
                  <a:pt x="0" y="0"/>
                </a:moveTo>
                <a:lnTo>
                  <a:pt x="28222" y="0"/>
                </a:lnTo>
                <a:lnTo>
                  <a:pt x="28222" y="465667"/>
                </a:lnTo>
                <a:lnTo>
                  <a:pt x="0" y="465667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26" name="Text 24"/>
          <p:cNvSpPr/>
          <p:nvPr/>
        </p:nvSpPr>
        <p:spPr>
          <a:xfrm>
            <a:off x="846667" y="4790720"/>
            <a:ext cx="257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Standby-Router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6667" y="5044720"/>
            <a:ext cx="2561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10.20.200.2 | HSRP Priority: 100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52062" y="4917720"/>
            <a:ext cx="78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F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4972" y="5344582"/>
            <a:ext cx="7859889" cy="388056"/>
          </a:xfrm>
          <a:custGeom>
            <a:avLst/>
            <a:gdLst/>
            <a:ahLst/>
            <a:cxnLst/>
            <a:rect l="l" t="t" r="r" b="b"/>
            <a:pathLst>
              <a:path w="7859889" h="388056">
                <a:moveTo>
                  <a:pt x="0" y="0"/>
                </a:moveTo>
                <a:lnTo>
                  <a:pt x="7859889" y="0"/>
                </a:lnTo>
                <a:lnTo>
                  <a:pt x="7859889" y="388056"/>
                </a:lnTo>
                <a:lnTo>
                  <a:pt x="0" y="38805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167" y="5432774"/>
            <a:ext cx="775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 Backup:</a:t>
            </a:r>
            <a:r>
              <a:rPr lang="en-US" sz="116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128 kbps link between routers (10.20.2.0/30)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0917" y="5958415"/>
            <a:ext cx="8135056" cy="896056"/>
          </a:xfrm>
          <a:custGeom>
            <a:avLst/>
            <a:gdLst/>
            <a:ahLst/>
            <a:cxnLst/>
            <a:rect l="l" t="t" r="r" b="b"/>
            <a:pathLst>
              <a:path w="8135056" h="896056">
                <a:moveTo>
                  <a:pt x="0" y="0"/>
                </a:moveTo>
                <a:lnTo>
                  <a:pt x="8135056" y="0"/>
                </a:lnTo>
                <a:lnTo>
                  <a:pt x="8135056" y="896056"/>
                </a:lnTo>
                <a:lnTo>
                  <a:pt x="0" y="8960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444" y="6088941"/>
            <a:ext cx="796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LACP Port-Channel 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1444" y="6469941"/>
            <a:ext cx="795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3x GigabitEthernet links bundled between core switches for load balancing and redundancy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0917" y="6946194"/>
            <a:ext cx="8135056" cy="896056"/>
          </a:xfrm>
          <a:custGeom>
            <a:avLst/>
            <a:gdLst/>
            <a:ahLst/>
            <a:cxnLst/>
            <a:rect l="l" t="t" r="r" b="b"/>
            <a:pathLst>
              <a:path w="8135056" h="896056">
                <a:moveTo>
                  <a:pt x="0" y="0"/>
                </a:moveTo>
                <a:lnTo>
                  <a:pt x="8135056" y="0"/>
                </a:lnTo>
                <a:lnTo>
                  <a:pt x="8135056" y="896056"/>
                </a:lnTo>
                <a:lnTo>
                  <a:pt x="0" y="8960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444" y="7076720"/>
            <a:ext cx="796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OSPF Area 1 with Summarization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1444" y="7457720"/>
            <a:ext cx="795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summarization configured on Branch-CORE: 10.20.1.0/24 and 10.20.2.0/24 summarized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59123" y="1802694"/>
            <a:ext cx="6865056" cy="2758722"/>
          </a:xfrm>
          <a:custGeom>
            <a:avLst/>
            <a:gdLst/>
            <a:ahLst/>
            <a:cxnLst/>
            <a:rect l="l" t="t" r="r" b="b"/>
            <a:pathLst>
              <a:path w="6865056" h="2758722">
                <a:moveTo>
                  <a:pt x="0" y="0"/>
                </a:moveTo>
                <a:lnTo>
                  <a:pt x="6865056" y="0"/>
                </a:lnTo>
                <a:lnTo>
                  <a:pt x="6865056" y="2758722"/>
                </a:lnTo>
                <a:lnTo>
                  <a:pt x="0" y="2758722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28015" y="198613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9" name="Text 37"/>
          <p:cNvSpPr/>
          <p:nvPr/>
        </p:nvSpPr>
        <p:spPr>
          <a:xfrm>
            <a:off x="9333067" y="1933220"/>
            <a:ext cx="645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VLAN Structure (6 VLANs)</a:t>
            </a:r>
            <a:endParaRPr lang="en-US" sz="16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9651" y="2314220"/>
          <a:ext cx="6603999" cy="2116667"/>
        </p:xfrm>
        <a:graphic>
          <a:graphicData uri="http://schemas.openxmlformats.org/drawingml/2006/table">
            <a:tbl>
              <a:tblPr/>
              <a:tblGrid>
                <a:gridCol w="994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381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VLAN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A9B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Department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A9B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Network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A9B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Gateway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A9B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8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A9B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Management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A9B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10.20.10.0/24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A9B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10.20.10.1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A9B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38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IT Department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10.20.20.0/24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10.20.20.1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38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Sales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10.20.30.0/24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10.20.30.1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38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CEO-Admin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10.20.40.0/24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10.20.40.1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38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Voice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10.20.50.0/24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10.20.50.1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38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Servers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10.20.100.0/24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10.20.100.1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8959123" y="4695469"/>
            <a:ext cx="6865056" cy="2716389"/>
          </a:xfrm>
          <a:custGeom>
            <a:avLst/>
            <a:gdLst/>
            <a:ahLst/>
            <a:cxnLst/>
            <a:rect l="l" t="t" r="r" b="b"/>
            <a:pathLst>
              <a:path w="6865056" h="2716389">
                <a:moveTo>
                  <a:pt x="0" y="0"/>
                </a:moveTo>
                <a:lnTo>
                  <a:pt x="6865056" y="0"/>
                </a:lnTo>
                <a:lnTo>
                  <a:pt x="6865056" y="2716389"/>
                </a:lnTo>
                <a:lnTo>
                  <a:pt x="0" y="2716389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128015" y="487891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3" name="Text 40"/>
          <p:cNvSpPr/>
          <p:nvPr/>
        </p:nvSpPr>
        <p:spPr>
          <a:xfrm>
            <a:off x="9333067" y="4826000"/>
            <a:ext cx="645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Infrastructure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103762" y="5207000"/>
            <a:ext cx="6596944" cy="635000"/>
          </a:xfrm>
          <a:custGeom>
            <a:avLst/>
            <a:gdLst/>
            <a:ahLst/>
            <a:cxnLst/>
            <a:rect l="l" t="t" r="r" b="b"/>
            <a:pathLst>
              <a:path w="6596944" h="635000">
                <a:moveTo>
                  <a:pt x="0" y="0"/>
                </a:moveTo>
                <a:lnTo>
                  <a:pt x="6596944" y="0"/>
                </a:lnTo>
                <a:lnTo>
                  <a:pt x="6596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Shape 42"/>
          <p:cNvSpPr/>
          <p:nvPr/>
        </p:nvSpPr>
        <p:spPr>
          <a:xfrm>
            <a:off x="9103762" y="5207000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6" name="Text 43"/>
          <p:cNvSpPr/>
          <p:nvPr/>
        </p:nvSpPr>
        <p:spPr>
          <a:xfrm>
            <a:off x="9202539" y="5291667"/>
            <a:ext cx="649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📡 DHCP Server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202539" y="5545667"/>
            <a:ext cx="648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10.20.100.10 | 6 DHCP pools | 245 users per pool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9103762" y="5926667"/>
            <a:ext cx="6596944" cy="635000"/>
          </a:xfrm>
          <a:custGeom>
            <a:avLst/>
            <a:gdLst/>
            <a:ahLst/>
            <a:cxnLst/>
            <a:rect l="l" t="t" r="r" b="b"/>
            <a:pathLst>
              <a:path w="6596944" h="635000">
                <a:moveTo>
                  <a:pt x="0" y="0"/>
                </a:moveTo>
                <a:lnTo>
                  <a:pt x="6596944" y="0"/>
                </a:lnTo>
                <a:lnTo>
                  <a:pt x="6596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Shape 46"/>
          <p:cNvSpPr/>
          <p:nvPr/>
        </p:nvSpPr>
        <p:spPr>
          <a:xfrm>
            <a:off x="9103762" y="5926667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50" name="Text 47"/>
          <p:cNvSpPr/>
          <p:nvPr/>
        </p:nvSpPr>
        <p:spPr>
          <a:xfrm>
            <a:off x="9202539" y="6011333"/>
            <a:ext cx="649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🌐 DNS Server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9202539" y="6265333"/>
            <a:ext cx="648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10.20.100.11 | Domain: b2pesi.com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9103762" y="6646333"/>
            <a:ext cx="6596944" cy="635000"/>
          </a:xfrm>
          <a:custGeom>
            <a:avLst/>
            <a:gdLst/>
            <a:ahLst/>
            <a:cxnLst/>
            <a:rect l="l" t="t" r="r" b="b"/>
            <a:pathLst>
              <a:path w="6596944" h="635000">
                <a:moveTo>
                  <a:pt x="0" y="0"/>
                </a:moveTo>
                <a:lnTo>
                  <a:pt x="6596944" y="0"/>
                </a:lnTo>
                <a:lnTo>
                  <a:pt x="6596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Shape 50"/>
          <p:cNvSpPr/>
          <p:nvPr/>
        </p:nvSpPr>
        <p:spPr>
          <a:xfrm>
            <a:off x="9103762" y="6646333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4" name="Text 51"/>
          <p:cNvSpPr/>
          <p:nvPr/>
        </p:nvSpPr>
        <p:spPr>
          <a:xfrm>
            <a:off x="9202539" y="6731000"/>
            <a:ext cx="649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📧 EMAIL Server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202539" y="6985000"/>
            <a:ext cx="648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10.20.100.12 | Domain: pesi.com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959123" y="7545915"/>
            <a:ext cx="6865056" cy="1901472"/>
          </a:xfrm>
          <a:custGeom>
            <a:avLst/>
            <a:gdLst/>
            <a:ahLst/>
            <a:cxnLst/>
            <a:rect l="l" t="t" r="r" b="b"/>
            <a:pathLst>
              <a:path w="6865056" h="1901472">
                <a:moveTo>
                  <a:pt x="0" y="0"/>
                </a:moveTo>
                <a:lnTo>
                  <a:pt x="6865056" y="0"/>
                </a:lnTo>
                <a:lnTo>
                  <a:pt x="6865056" y="1901472"/>
                </a:lnTo>
                <a:lnTo>
                  <a:pt x="0" y="1901472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16109" y="77293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9606" y="9302"/>
                </a:moveTo>
                <a:cubicBezTo>
                  <a:pt x="56666" y="2270"/>
                  <a:pt x="49002" y="-1451"/>
                  <a:pt x="41709" y="521"/>
                </a:cubicBezTo>
                <a:lnTo>
                  <a:pt x="39663" y="1079"/>
                </a:lnTo>
                <a:cubicBezTo>
                  <a:pt x="15627" y="7627"/>
                  <a:pt x="-4911" y="30919"/>
                  <a:pt x="1079" y="59271"/>
                </a:cubicBezTo>
                <a:cubicBezTo>
                  <a:pt x="14883" y="124383"/>
                  <a:pt x="66117" y="175617"/>
                  <a:pt x="131229" y="189421"/>
                </a:cubicBezTo>
                <a:cubicBezTo>
                  <a:pt x="159618" y="195449"/>
                  <a:pt x="182873" y="174873"/>
                  <a:pt x="189421" y="150837"/>
                </a:cubicBezTo>
                <a:lnTo>
                  <a:pt x="189979" y="148791"/>
                </a:lnTo>
                <a:cubicBezTo>
                  <a:pt x="191988" y="141461"/>
                  <a:pt x="188230" y="133796"/>
                  <a:pt x="181235" y="130894"/>
                </a:cubicBezTo>
                <a:lnTo>
                  <a:pt x="145033" y="115825"/>
                </a:lnTo>
                <a:cubicBezTo>
                  <a:pt x="138894" y="113258"/>
                  <a:pt x="131787" y="115044"/>
                  <a:pt x="127546" y="120216"/>
                </a:cubicBezTo>
                <a:lnTo>
                  <a:pt x="113184" y="137778"/>
                </a:lnTo>
                <a:cubicBezTo>
                  <a:pt x="87027" y="124792"/>
                  <a:pt x="65968" y="103063"/>
                  <a:pt x="53876" y="76386"/>
                </a:cubicBezTo>
                <a:lnTo>
                  <a:pt x="70321" y="62992"/>
                </a:lnTo>
                <a:cubicBezTo>
                  <a:pt x="75493" y="58787"/>
                  <a:pt x="77242" y="51681"/>
                  <a:pt x="74712" y="45504"/>
                </a:cubicBezTo>
                <a:lnTo>
                  <a:pt x="59606" y="9302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8" name="Text 55"/>
          <p:cNvSpPr/>
          <p:nvPr/>
        </p:nvSpPr>
        <p:spPr>
          <a:xfrm>
            <a:off x="9333067" y="7676441"/>
            <a:ext cx="645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VoIP System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9093178" y="8060969"/>
            <a:ext cx="3256139" cy="769056"/>
          </a:xfrm>
          <a:custGeom>
            <a:avLst/>
            <a:gdLst/>
            <a:ahLst/>
            <a:cxnLst/>
            <a:rect l="l" t="t" r="r" b="b"/>
            <a:pathLst>
              <a:path w="3256139" h="769056">
                <a:moveTo>
                  <a:pt x="0" y="0"/>
                </a:moveTo>
                <a:lnTo>
                  <a:pt x="3256139" y="0"/>
                </a:lnTo>
                <a:lnTo>
                  <a:pt x="3256139" y="769056"/>
                </a:lnTo>
                <a:lnTo>
                  <a:pt x="0" y="7690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117872" y="8149167"/>
            <a:ext cx="3206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9144331" y="8530167"/>
            <a:ext cx="3153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Phones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12439937" y="8060969"/>
            <a:ext cx="3256139" cy="769056"/>
          </a:xfrm>
          <a:custGeom>
            <a:avLst/>
            <a:gdLst/>
            <a:ahLst/>
            <a:cxnLst/>
            <a:rect l="l" t="t" r="r" b="b"/>
            <a:pathLst>
              <a:path w="3256139" h="769056">
                <a:moveTo>
                  <a:pt x="0" y="0"/>
                </a:moveTo>
                <a:lnTo>
                  <a:pt x="3256139" y="0"/>
                </a:lnTo>
                <a:lnTo>
                  <a:pt x="3256139" y="769056"/>
                </a:lnTo>
                <a:lnTo>
                  <a:pt x="0" y="7690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2464632" y="8149167"/>
            <a:ext cx="3206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2001-2004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2491090" y="8530167"/>
            <a:ext cx="3153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9093178" y="8921748"/>
            <a:ext cx="6600472" cy="388056"/>
          </a:xfrm>
          <a:custGeom>
            <a:avLst/>
            <a:gdLst/>
            <a:ahLst/>
            <a:cxnLst/>
            <a:rect l="l" t="t" r="r" b="b"/>
            <a:pathLst>
              <a:path w="6600472" h="388056">
                <a:moveTo>
                  <a:pt x="0" y="0"/>
                </a:moveTo>
                <a:lnTo>
                  <a:pt x="6600472" y="0"/>
                </a:lnTo>
                <a:lnTo>
                  <a:pt x="6600472" y="388056"/>
                </a:lnTo>
                <a:lnTo>
                  <a:pt x="0" y="38805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181372" y="9009941"/>
            <a:ext cx="6498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Inter-Branch Calling:</a:t>
            </a:r>
            <a:r>
              <a:rPr lang="en-US" sz="116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Branch 2 ↔ HQ (6001-6005) via OSPF routing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426861" y="11123082"/>
            <a:ext cx="15405806" cy="515056"/>
          </a:xfrm>
          <a:custGeom>
            <a:avLst/>
            <a:gdLst/>
            <a:ahLst/>
            <a:cxnLst/>
            <a:rect l="l" t="t" r="r" b="b"/>
            <a:pathLst>
              <a:path w="15405806" h="515056">
                <a:moveTo>
                  <a:pt x="0" y="0"/>
                </a:moveTo>
                <a:lnTo>
                  <a:pt x="15405806" y="0"/>
                </a:lnTo>
                <a:lnTo>
                  <a:pt x="15405806" y="515056"/>
                </a:lnTo>
                <a:lnTo>
                  <a:pt x="0" y="515056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10196"/>
            </a:srgbClr>
          </a:solidFill>
          <a:ln w="8467">
            <a:solidFill>
              <a:srgbClr val="A9B4C2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57389" y="11253608"/>
            <a:ext cx="554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Scheme: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10.20.0.0/16 | </a:t>
            </a:r>
            <a:r>
              <a:rPr lang="en-US" sz="1333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OSPF Area: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Area 1 | </a:t>
            </a:r>
            <a:r>
              <a:rPr lang="en-US" sz="1333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Capacity: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~1,200 users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816" y="444816"/>
            <a:ext cx="2124823" cy="371293"/>
          </a:xfrm>
          <a:custGeom>
            <a:avLst/>
            <a:gdLst/>
            <a:ahLst/>
            <a:cxnLst/>
            <a:rect l="l" t="t" r="r" b="b"/>
            <a:pathLst>
              <a:path w="2124823" h="371293">
                <a:moveTo>
                  <a:pt x="0" y="0"/>
                </a:moveTo>
                <a:lnTo>
                  <a:pt x="2124823" y="0"/>
                </a:lnTo>
                <a:lnTo>
                  <a:pt x="2124823" y="371293"/>
                </a:lnTo>
                <a:lnTo>
                  <a:pt x="0" y="371293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20000"/>
            </a:srgbClr>
          </a:solidFill>
          <a:ln w="8467">
            <a:solidFill>
              <a:srgbClr val="6F7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0834" y="499955"/>
            <a:ext cx="1940326" cy="257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kern="0" spc="69" dirty="0">
                <a:solidFill>
                  <a:srgbClr val="6F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NETWORKS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1140" y="904336"/>
            <a:ext cx="15572233" cy="44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2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2: Distributed Offices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1140" y="1433704"/>
            <a:ext cx="15472977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Contrasting architectures: basic services vs. complex independent connectivity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816" y="1878520"/>
            <a:ext cx="7594956" cy="7264101"/>
          </a:xfrm>
          <a:custGeom>
            <a:avLst/>
            <a:gdLst/>
            <a:ahLst/>
            <a:cxnLst/>
            <a:rect l="l" t="t" r="r" b="b"/>
            <a:pathLst>
              <a:path w="7594956" h="7264101">
                <a:moveTo>
                  <a:pt x="0" y="0"/>
                </a:moveTo>
                <a:lnTo>
                  <a:pt x="7594956" y="0"/>
                </a:lnTo>
                <a:lnTo>
                  <a:pt x="7594956" y="7264101"/>
                </a:lnTo>
                <a:lnTo>
                  <a:pt x="0" y="7264101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6F7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834" y="2014536"/>
            <a:ext cx="529368" cy="529368"/>
          </a:xfrm>
          <a:custGeom>
            <a:avLst/>
            <a:gdLst/>
            <a:ahLst/>
            <a:cxnLst/>
            <a:rect l="l" t="t" r="r" b="b"/>
            <a:pathLst>
              <a:path w="529368" h="529368">
                <a:moveTo>
                  <a:pt x="0" y="0"/>
                </a:moveTo>
                <a:lnTo>
                  <a:pt x="529368" y="0"/>
                </a:lnTo>
                <a:lnTo>
                  <a:pt x="529368" y="529368"/>
                </a:lnTo>
                <a:lnTo>
                  <a:pt x="0" y="529368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8" name="Text 6"/>
          <p:cNvSpPr/>
          <p:nvPr/>
        </p:nvSpPr>
        <p:spPr>
          <a:xfrm>
            <a:off x="710189" y="2102764"/>
            <a:ext cx="408054" cy="35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2544" y="2102764"/>
            <a:ext cx="1113878" cy="35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510" y="2679922"/>
            <a:ext cx="7308215" cy="1551341"/>
          </a:xfrm>
          <a:custGeom>
            <a:avLst/>
            <a:gdLst/>
            <a:ahLst/>
            <a:cxnLst/>
            <a:rect l="l" t="t" r="r" b="b"/>
            <a:pathLst>
              <a:path w="7308215" h="1551341">
                <a:moveTo>
                  <a:pt x="0" y="0"/>
                </a:moveTo>
                <a:lnTo>
                  <a:pt x="7308215" y="0"/>
                </a:lnTo>
                <a:lnTo>
                  <a:pt x="7308215" y="1551341"/>
                </a:lnTo>
                <a:lnTo>
                  <a:pt x="0" y="155134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6F7D8C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28" y="2815939"/>
            <a:ext cx="7135436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Overview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0528" y="3212964"/>
            <a:ext cx="7124407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Range:</a:t>
            </a:r>
            <a:r>
              <a:rPr lang="en-US" sz="138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172.16.0.0/16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0528" y="3521762"/>
            <a:ext cx="7124407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r>
              <a:rPr lang="en-US" sz="138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b1pesi.com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0528" y="3830560"/>
            <a:ext cx="7124407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VLANs:</a:t>
            </a:r>
            <a:r>
              <a:rPr lang="en-US" sz="138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 department VLANs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4510" y="4326846"/>
            <a:ext cx="7308215" cy="2213051"/>
          </a:xfrm>
          <a:custGeom>
            <a:avLst/>
            <a:gdLst/>
            <a:ahLst/>
            <a:cxnLst/>
            <a:rect l="l" t="t" r="r" b="b"/>
            <a:pathLst>
              <a:path w="7308215" h="2213051">
                <a:moveTo>
                  <a:pt x="0" y="0"/>
                </a:moveTo>
                <a:lnTo>
                  <a:pt x="7308215" y="0"/>
                </a:lnTo>
                <a:lnTo>
                  <a:pt x="7308215" y="2213051"/>
                </a:lnTo>
                <a:lnTo>
                  <a:pt x="0" y="221305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6F7D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28" y="4462862"/>
            <a:ext cx="7135436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Infrastructure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5233" y="4859888"/>
            <a:ext cx="29409" cy="485254"/>
          </a:xfrm>
          <a:custGeom>
            <a:avLst/>
            <a:gdLst/>
            <a:ahLst/>
            <a:cxnLst/>
            <a:rect l="l" t="t" r="r" b="b"/>
            <a:pathLst>
              <a:path w="29409" h="485254">
                <a:moveTo>
                  <a:pt x="0" y="0"/>
                </a:moveTo>
                <a:lnTo>
                  <a:pt x="29409" y="0"/>
                </a:lnTo>
                <a:lnTo>
                  <a:pt x="29409" y="485254"/>
                </a:lnTo>
                <a:lnTo>
                  <a:pt x="0" y="485254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18" name="Text 16"/>
          <p:cNvSpPr/>
          <p:nvPr/>
        </p:nvSpPr>
        <p:spPr>
          <a:xfrm>
            <a:off x="838166" y="4859888"/>
            <a:ext cx="7014122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📡 DHCP Server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166" y="5124572"/>
            <a:ext cx="7003094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172.16.60.2 | 6 pools | ~1,200 users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5233" y="5389256"/>
            <a:ext cx="29409" cy="485254"/>
          </a:xfrm>
          <a:custGeom>
            <a:avLst/>
            <a:gdLst/>
            <a:ahLst/>
            <a:cxnLst/>
            <a:rect l="l" t="t" r="r" b="b"/>
            <a:pathLst>
              <a:path w="29409" h="485254">
                <a:moveTo>
                  <a:pt x="0" y="0"/>
                </a:moveTo>
                <a:lnTo>
                  <a:pt x="29409" y="0"/>
                </a:lnTo>
                <a:lnTo>
                  <a:pt x="29409" y="485254"/>
                </a:lnTo>
                <a:lnTo>
                  <a:pt x="0" y="485254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21" name="Text 19"/>
          <p:cNvSpPr/>
          <p:nvPr/>
        </p:nvSpPr>
        <p:spPr>
          <a:xfrm>
            <a:off x="838166" y="5389256"/>
            <a:ext cx="7014122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🌐 DNS Server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166" y="5653939"/>
            <a:ext cx="7003094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172.16.60.3 | Domain: b1pesi.com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5233" y="5918623"/>
            <a:ext cx="29409" cy="485254"/>
          </a:xfrm>
          <a:custGeom>
            <a:avLst/>
            <a:gdLst/>
            <a:ahLst/>
            <a:cxnLst/>
            <a:rect l="l" t="t" r="r" b="b"/>
            <a:pathLst>
              <a:path w="29409" h="485254">
                <a:moveTo>
                  <a:pt x="0" y="0"/>
                </a:moveTo>
                <a:lnTo>
                  <a:pt x="29409" y="0"/>
                </a:lnTo>
                <a:lnTo>
                  <a:pt x="29409" y="485254"/>
                </a:lnTo>
                <a:lnTo>
                  <a:pt x="0" y="485254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24" name="Text 22"/>
          <p:cNvSpPr/>
          <p:nvPr/>
        </p:nvSpPr>
        <p:spPr>
          <a:xfrm>
            <a:off x="838166" y="5918623"/>
            <a:ext cx="7014122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📧 EMAIL Server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166" y="6183307"/>
            <a:ext cx="7003094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192.168.60.2 | Domain: b1pesi.com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4510" y="6635474"/>
            <a:ext cx="7308215" cy="1330772"/>
          </a:xfrm>
          <a:custGeom>
            <a:avLst/>
            <a:gdLst/>
            <a:ahLst/>
            <a:cxnLst/>
            <a:rect l="l" t="t" r="r" b="b"/>
            <a:pathLst>
              <a:path w="7308215" h="1330772">
                <a:moveTo>
                  <a:pt x="0" y="0"/>
                </a:moveTo>
                <a:lnTo>
                  <a:pt x="7308215" y="0"/>
                </a:lnTo>
                <a:lnTo>
                  <a:pt x="7308215" y="1330772"/>
                </a:lnTo>
                <a:lnTo>
                  <a:pt x="0" y="133077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6F7D8C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414" y="6727381"/>
            <a:ext cx="7223664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2957" y="7168521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66171" y="132342"/>
                </a:moveTo>
                <a:cubicBezTo>
                  <a:pt x="102692" y="132342"/>
                  <a:pt x="132342" y="102692"/>
                  <a:pt x="132342" y="66171"/>
                </a:cubicBezTo>
                <a:cubicBezTo>
                  <a:pt x="132342" y="29650"/>
                  <a:pt x="102692" y="0"/>
                  <a:pt x="66171" y="0"/>
                </a:cubicBezTo>
                <a:cubicBezTo>
                  <a:pt x="29650" y="0"/>
                  <a:pt x="0" y="29650"/>
                  <a:pt x="0" y="66171"/>
                </a:cubicBezTo>
                <a:cubicBezTo>
                  <a:pt x="0" y="102692"/>
                  <a:pt x="29650" y="132342"/>
                  <a:pt x="66171" y="132342"/>
                </a:cubicBezTo>
                <a:close/>
                <a:moveTo>
                  <a:pt x="87987" y="54979"/>
                </a:moveTo>
                <a:lnTo>
                  <a:pt x="67308" y="88064"/>
                </a:lnTo>
                <a:cubicBezTo>
                  <a:pt x="66223" y="89796"/>
                  <a:pt x="64362" y="90882"/>
                  <a:pt x="62320" y="90985"/>
                </a:cubicBezTo>
                <a:cubicBezTo>
                  <a:pt x="60278" y="91088"/>
                  <a:pt x="58313" y="90158"/>
                  <a:pt x="57098" y="88504"/>
                </a:cubicBezTo>
                <a:lnTo>
                  <a:pt x="44691" y="71961"/>
                </a:lnTo>
                <a:cubicBezTo>
                  <a:pt x="42623" y="69221"/>
                  <a:pt x="43192" y="65344"/>
                  <a:pt x="45932" y="63276"/>
                </a:cubicBezTo>
                <a:cubicBezTo>
                  <a:pt x="48672" y="61208"/>
                  <a:pt x="52549" y="61777"/>
                  <a:pt x="54617" y="64517"/>
                </a:cubicBezTo>
                <a:lnTo>
                  <a:pt x="61596" y="73822"/>
                </a:lnTo>
                <a:lnTo>
                  <a:pt x="77467" y="48413"/>
                </a:lnTo>
                <a:cubicBezTo>
                  <a:pt x="79276" y="45518"/>
                  <a:pt x="83101" y="44614"/>
                  <a:pt x="86022" y="46449"/>
                </a:cubicBezTo>
                <a:cubicBezTo>
                  <a:pt x="88943" y="48284"/>
                  <a:pt x="89822" y="52084"/>
                  <a:pt x="87987" y="55005"/>
                </a:cubicBez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29" name="Text 27"/>
          <p:cNvSpPr/>
          <p:nvPr/>
        </p:nvSpPr>
        <p:spPr>
          <a:xfrm>
            <a:off x="841842" y="7124407"/>
            <a:ext cx="7036179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branch with basic services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2957" y="7433205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66171" y="132342"/>
                </a:moveTo>
                <a:cubicBezTo>
                  <a:pt x="102692" y="132342"/>
                  <a:pt x="132342" y="102692"/>
                  <a:pt x="132342" y="66171"/>
                </a:cubicBezTo>
                <a:cubicBezTo>
                  <a:pt x="132342" y="29650"/>
                  <a:pt x="102692" y="0"/>
                  <a:pt x="66171" y="0"/>
                </a:cubicBezTo>
                <a:cubicBezTo>
                  <a:pt x="29650" y="0"/>
                  <a:pt x="0" y="29650"/>
                  <a:pt x="0" y="66171"/>
                </a:cubicBezTo>
                <a:cubicBezTo>
                  <a:pt x="0" y="102692"/>
                  <a:pt x="29650" y="132342"/>
                  <a:pt x="66171" y="132342"/>
                </a:cubicBezTo>
                <a:close/>
                <a:moveTo>
                  <a:pt x="87987" y="54979"/>
                </a:moveTo>
                <a:lnTo>
                  <a:pt x="67308" y="88064"/>
                </a:lnTo>
                <a:cubicBezTo>
                  <a:pt x="66223" y="89796"/>
                  <a:pt x="64362" y="90882"/>
                  <a:pt x="62320" y="90985"/>
                </a:cubicBezTo>
                <a:cubicBezTo>
                  <a:pt x="60278" y="91088"/>
                  <a:pt x="58313" y="90158"/>
                  <a:pt x="57098" y="88504"/>
                </a:cubicBezTo>
                <a:lnTo>
                  <a:pt x="44691" y="71961"/>
                </a:lnTo>
                <a:cubicBezTo>
                  <a:pt x="42623" y="69221"/>
                  <a:pt x="43192" y="65344"/>
                  <a:pt x="45932" y="63276"/>
                </a:cubicBezTo>
                <a:cubicBezTo>
                  <a:pt x="48672" y="61208"/>
                  <a:pt x="52549" y="61777"/>
                  <a:pt x="54617" y="64517"/>
                </a:cubicBezTo>
                <a:lnTo>
                  <a:pt x="61596" y="73822"/>
                </a:lnTo>
                <a:lnTo>
                  <a:pt x="77467" y="48413"/>
                </a:lnTo>
                <a:cubicBezTo>
                  <a:pt x="79276" y="45518"/>
                  <a:pt x="83101" y="44614"/>
                  <a:pt x="86022" y="46449"/>
                </a:cubicBezTo>
                <a:cubicBezTo>
                  <a:pt x="88943" y="48284"/>
                  <a:pt x="89822" y="52084"/>
                  <a:pt x="87987" y="55005"/>
                </a:cubicBez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31" name="Text 29"/>
          <p:cNvSpPr/>
          <p:nvPr/>
        </p:nvSpPr>
        <p:spPr>
          <a:xfrm>
            <a:off x="841842" y="7389091"/>
            <a:ext cx="7036179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VLANs serving 5 departments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2957" y="7697889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66171" y="132342"/>
                </a:moveTo>
                <a:cubicBezTo>
                  <a:pt x="102692" y="132342"/>
                  <a:pt x="132342" y="102692"/>
                  <a:pt x="132342" y="66171"/>
                </a:cubicBezTo>
                <a:cubicBezTo>
                  <a:pt x="132342" y="29650"/>
                  <a:pt x="102692" y="0"/>
                  <a:pt x="66171" y="0"/>
                </a:cubicBezTo>
                <a:cubicBezTo>
                  <a:pt x="29650" y="0"/>
                  <a:pt x="0" y="29650"/>
                  <a:pt x="0" y="66171"/>
                </a:cubicBezTo>
                <a:cubicBezTo>
                  <a:pt x="0" y="102692"/>
                  <a:pt x="29650" y="132342"/>
                  <a:pt x="66171" y="132342"/>
                </a:cubicBezTo>
                <a:close/>
                <a:moveTo>
                  <a:pt x="87987" y="54979"/>
                </a:moveTo>
                <a:lnTo>
                  <a:pt x="67308" y="88064"/>
                </a:lnTo>
                <a:cubicBezTo>
                  <a:pt x="66223" y="89796"/>
                  <a:pt x="64362" y="90882"/>
                  <a:pt x="62320" y="90985"/>
                </a:cubicBezTo>
                <a:cubicBezTo>
                  <a:pt x="60278" y="91088"/>
                  <a:pt x="58313" y="90158"/>
                  <a:pt x="57098" y="88504"/>
                </a:cubicBezTo>
                <a:lnTo>
                  <a:pt x="44691" y="71961"/>
                </a:lnTo>
                <a:cubicBezTo>
                  <a:pt x="42623" y="69221"/>
                  <a:pt x="43192" y="65344"/>
                  <a:pt x="45932" y="63276"/>
                </a:cubicBezTo>
                <a:cubicBezTo>
                  <a:pt x="48672" y="61208"/>
                  <a:pt x="52549" y="61777"/>
                  <a:pt x="54617" y="64517"/>
                </a:cubicBezTo>
                <a:lnTo>
                  <a:pt x="61596" y="73822"/>
                </a:lnTo>
                <a:lnTo>
                  <a:pt x="77467" y="48413"/>
                </a:lnTo>
                <a:cubicBezTo>
                  <a:pt x="79276" y="45518"/>
                  <a:pt x="83101" y="44614"/>
                  <a:pt x="86022" y="46449"/>
                </a:cubicBezTo>
                <a:cubicBezTo>
                  <a:pt x="88943" y="48284"/>
                  <a:pt x="89822" y="52084"/>
                  <a:pt x="87987" y="55005"/>
                </a:cubicBez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33" name="Text 31"/>
          <p:cNvSpPr/>
          <p:nvPr/>
        </p:nvSpPr>
        <p:spPr>
          <a:xfrm>
            <a:off x="841842" y="7653775"/>
            <a:ext cx="7036179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server farm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18641" y="1878520"/>
            <a:ext cx="7594956" cy="7264101"/>
          </a:xfrm>
          <a:custGeom>
            <a:avLst/>
            <a:gdLst/>
            <a:ahLst/>
            <a:cxnLst/>
            <a:rect l="l" t="t" r="r" b="b"/>
            <a:pathLst>
              <a:path w="7594956" h="7264101">
                <a:moveTo>
                  <a:pt x="0" y="0"/>
                </a:moveTo>
                <a:lnTo>
                  <a:pt x="7594956" y="0"/>
                </a:lnTo>
                <a:lnTo>
                  <a:pt x="7594956" y="7264101"/>
                </a:lnTo>
                <a:lnTo>
                  <a:pt x="0" y="7264101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54659" y="2014536"/>
            <a:ext cx="529368" cy="529368"/>
          </a:xfrm>
          <a:custGeom>
            <a:avLst/>
            <a:gdLst/>
            <a:ahLst/>
            <a:cxnLst/>
            <a:rect l="l" t="t" r="r" b="b"/>
            <a:pathLst>
              <a:path w="529368" h="529368">
                <a:moveTo>
                  <a:pt x="0" y="0"/>
                </a:moveTo>
                <a:lnTo>
                  <a:pt x="529368" y="0"/>
                </a:lnTo>
                <a:lnTo>
                  <a:pt x="529368" y="529368"/>
                </a:lnTo>
                <a:lnTo>
                  <a:pt x="0" y="529368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970" y="2102764"/>
            <a:ext cx="452168" cy="35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16369" y="2102764"/>
            <a:ext cx="1157992" cy="35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58335" y="2679922"/>
            <a:ext cx="7308215" cy="1860139"/>
          </a:xfrm>
          <a:custGeom>
            <a:avLst/>
            <a:gdLst/>
            <a:ahLst/>
            <a:cxnLst/>
            <a:rect l="l" t="t" r="r" b="b"/>
            <a:pathLst>
              <a:path w="7308215" h="1860139">
                <a:moveTo>
                  <a:pt x="0" y="0"/>
                </a:moveTo>
                <a:lnTo>
                  <a:pt x="7308215" y="0"/>
                </a:lnTo>
                <a:lnTo>
                  <a:pt x="7308215" y="1860139"/>
                </a:lnTo>
                <a:lnTo>
                  <a:pt x="0" y="186013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94353" y="2815939"/>
            <a:ext cx="7135436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Features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94353" y="3212964"/>
            <a:ext cx="7124407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Range:</a:t>
            </a:r>
            <a:r>
              <a:rPr lang="en-US" sz="138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172.16.0.0/16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94353" y="3521762"/>
            <a:ext cx="7124407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OSPF Area:</a:t>
            </a:r>
            <a:r>
              <a:rPr lang="en-US" sz="138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Area 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94353" y="3830560"/>
            <a:ext cx="7124407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WAN:</a:t>
            </a:r>
            <a:r>
              <a:rPr lang="en-US" sz="138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Dual ISP connectivity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94353" y="4139358"/>
            <a:ext cx="7124407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NAT:</a:t>
            </a:r>
            <a:r>
              <a:rPr lang="en-US" sz="138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 (Port Address Translation)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58335" y="4635644"/>
            <a:ext cx="7308215" cy="1639569"/>
          </a:xfrm>
          <a:custGeom>
            <a:avLst/>
            <a:gdLst/>
            <a:ahLst/>
            <a:cxnLst/>
            <a:rect l="l" t="t" r="r" b="b"/>
            <a:pathLst>
              <a:path w="7308215" h="1639569">
                <a:moveTo>
                  <a:pt x="0" y="0"/>
                </a:moveTo>
                <a:lnTo>
                  <a:pt x="7308215" y="0"/>
                </a:lnTo>
                <a:lnTo>
                  <a:pt x="7308215" y="1639569"/>
                </a:lnTo>
                <a:lnTo>
                  <a:pt x="0" y="16395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94353" y="4771660"/>
            <a:ext cx="7135436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Infrastructure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09057" y="5168686"/>
            <a:ext cx="29409" cy="441140"/>
          </a:xfrm>
          <a:custGeom>
            <a:avLst/>
            <a:gdLst/>
            <a:ahLst/>
            <a:cxnLst/>
            <a:rect l="l" t="t" r="r" b="b"/>
            <a:pathLst>
              <a:path w="29409" h="441140">
                <a:moveTo>
                  <a:pt x="0" y="0"/>
                </a:moveTo>
                <a:lnTo>
                  <a:pt x="29409" y="0"/>
                </a:lnTo>
                <a:lnTo>
                  <a:pt x="29409" y="441140"/>
                </a:lnTo>
                <a:lnTo>
                  <a:pt x="0" y="44114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7" name="Text 45"/>
          <p:cNvSpPr/>
          <p:nvPr/>
        </p:nvSpPr>
        <p:spPr>
          <a:xfrm>
            <a:off x="8611990" y="5168686"/>
            <a:ext cx="3429862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B2-Core-Router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11990" y="5389256"/>
            <a:ext cx="3429862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4.4.4.4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2072411" y="5168686"/>
            <a:ext cx="29409" cy="441140"/>
          </a:xfrm>
          <a:custGeom>
            <a:avLst/>
            <a:gdLst/>
            <a:ahLst/>
            <a:cxnLst/>
            <a:rect l="l" t="t" r="r" b="b"/>
            <a:pathLst>
              <a:path w="29409" h="441140">
                <a:moveTo>
                  <a:pt x="0" y="0"/>
                </a:moveTo>
                <a:lnTo>
                  <a:pt x="29409" y="0"/>
                </a:lnTo>
                <a:lnTo>
                  <a:pt x="29409" y="441140"/>
                </a:lnTo>
                <a:lnTo>
                  <a:pt x="0" y="44114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0" name="Text 48"/>
          <p:cNvSpPr/>
          <p:nvPr/>
        </p:nvSpPr>
        <p:spPr>
          <a:xfrm>
            <a:off x="12175343" y="5168686"/>
            <a:ext cx="3429862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B2-Core-Router-2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175343" y="5389256"/>
            <a:ext cx="3429862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3.3.3.3 (NAT)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09057" y="5698053"/>
            <a:ext cx="29409" cy="441140"/>
          </a:xfrm>
          <a:custGeom>
            <a:avLst/>
            <a:gdLst/>
            <a:ahLst/>
            <a:cxnLst/>
            <a:rect l="l" t="t" r="r" b="b"/>
            <a:pathLst>
              <a:path w="29409" h="441140">
                <a:moveTo>
                  <a:pt x="0" y="0"/>
                </a:moveTo>
                <a:lnTo>
                  <a:pt x="29409" y="0"/>
                </a:lnTo>
                <a:lnTo>
                  <a:pt x="29409" y="441140"/>
                </a:lnTo>
                <a:lnTo>
                  <a:pt x="0" y="44114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3" name="Text 51"/>
          <p:cNvSpPr/>
          <p:nvPr/>
        </p:nvSpPr>
        <p:spPr>
          <a:xfrm>
            <a:off x="8611990" y="5698053"/>
            <a:ext cx="3429862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B2-Core-Switch-1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11990" y="5918623"/>
            <a:ext cx="3429862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1.1.1.1 (Active)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072411" y="5698053"/>
            <a:ext cx="29409" cy="441140"/>
          </a:xfrm>
          <a:custGeom>
            <a:avLst/>
            <a:gdLst/>
            <a:ahLst/>
            <a:cxnLst/>
            <a:rect l="l" t="t" r="r" b="b"/>
            <a:pathLst>
              <a:path w="29409" h="441140">
                <a:moveTo>
                  <a:pt x="0" y="0"/>
                </a:moveTo>
                <a:lnTo>
                  <a:pt x="29409" y="0"/>
                </a:lnTo>
                <a:lnTo>
                  <a:pt x="29409" y="441140"/>
                </a:lnTo>
                <a:lnTo>
                  <a:pt x="0" y="44114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6" name="Text 54"/>
          <p:cNvSpPr/>
          <p:nvPr/>
        </p:nvSpPr>
        <p:spPr>
          <a:xfrm>
            <a:off x="12175343" y="5698053"/>
            <a:ext cx="3429862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B2-Core-Switch2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2175343" y="5918623"/>
            <a:ext cx="3429862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2.2.2.20 (Standby)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58335" y="6370790"/>
            <a:ext cx="7308215" cy="1683683"/>
          </a:xfrm>
          <a:custGeom>
            <a:avLst/>
            <a:gdLst/>
            <a:ahLst/>
            <a:cxnLst/>
            <a:rect l="l" t="t" r="r" b="b"/>
            <a:pathLst>
              <a:path w="7308215" h="1683683">
                <a:moveTo>
                  <a:pt x="0" y="0"/>
                </a:moveTo>
                <a:lnTo>
                  <a:pt x="7308215" y="0"/>
                </a:lnTo>
                <a:lnTo>
                  <a:pt x="7308215" y="1683683"/>
                </a:lnTo>
                <a:lnTo>
                  <a:pt x="0" y="168368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94353" y="6506811"/>
            <a:ext cx="7135436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Capabilities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502624" y="6947951"/>
            <a:ext cx="148885" cy="132342"/>
          </a:xfrm>
          <a:custGeom>
            <a:avLst/>
            <a:gdLst/>
            <a:ahLst/>
            <a:cxnLst/>
            <a:rect l="l" t="t" r="r" b="b"/>
            <a:pathLst>
              <a:path w="148885" h="132342">
                <a:moveTo>
                  <a:pt x="80000" y="-4885"/>
                </a:moveTo>
                <a:cubicBezTo>
                  <a:pt x="78940" y="-6953"/>
                  <a:pt x="76795" y="-8271"/>
                  <a:pt x="74468" y="-8271"/>
                </a:cubicBezTo>
                <a:cubicBezTo>
                  <a:pt x="72142" y="-8271"/>
                  <a:pt x="69996" y="-6953"/>
                  <a:pt x="68937" y="-4885"/>
                </a:cubicBezTo>
                <a:lnTo>
                  <a:pt x="49913" y="32388"/>
                </a:lnTo>
                <a:lnTo>
                  <a:pt x="8582" y="38953"/>
                </a:lnTo>
                <a:cubicBezTo>
                  <a:pt x="6281" y="39315"/>
                  <a:pt x="4368" y="40943"/>
                  <a:pt x="3645" y="43166"/>
                </a:cubicBezTo>
                <a:cubicBezTo>
                  <a:pt x="2921" y="45389"/>
                  <a:pt x="3515" y="47819"/>
                  <a:pt x="5144" y="49473"/>
                </a:cubicBezTo>
                <a:lnTo>
                  <a:pt x="34714" y="79069"/>
                </a:lnTo>
                <a:lnTo>
                  <a:pt x="28200" y="120400"/>
                </a:lnTo>
                <a:cubicBezTo>
                  <a:pt x="27838" y="122701"/>
                  <a:pt x="28795" y="125027"/>
                  <a:pt x="30682" y="126397"/>
                </a:cubicBezTo>
                <a:cubicBezTo>
                  <a:pt x="32569" y="127767"/>
                  <a:pt x="35050" y="127974"/>
                  <a:pt x="37144" y="126914"/>
                </a:cubicBezTo>
                <a:lnTo>
                  <a:pt x="74468" y="107941"/>
                </a:lnTo>
                <a:lnTo>
                  <a:pt x="111767" y="126914"/>
                </a:lnTo>
                <a:cubicBezTo>
                  <a:pt x="113835" y="127974"/>
                  <a:pt x="116342" y="127767"/>
                  <a:pt x="118229" y="126397"/>
                </a:cubicBezTo>
                <a:cubicBezTo>
                  <a:pt x="120116" y="125027"/>
                  <a:pt x="121072" y="122726"/>
                  <a:pt x="120710" y="120400"/>
                </a:cubicBezTo>
                <a:lnTo>
                  <a:pt x="114171" y="79069"/>
                </a:lnTo>
                <a:lnTo>
                  <a:pt x="143741" y="49473"/>
                </a:lnTo>
                <a:cubicBezTo>
                  <a:pt x="145395" y="47819"/>
                  <a:pt x="145964" y="45389"/>
                  <a:pt x="145240" y="43166"/>
                </a:cubicBezTo>
                <a:cubicBezTo>
                  <a:pt x="144516" y="40943"/>
                  <a:pt x="142629" y="39315"/>
                  <a:pt x="140303" y="38953"/>
                </a:cubicBezTo>
                <a:lnTo>
                  <a:pt x="98998" y="32388"/>
                </a:lnTo>
                <a:lnTo>
                  <a:pt x="80000" y="-488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1" name="Text 59"/>
          <p:cNvSpPr/>
          <p:nvPr/>
        </p:nvSpPr>
        <p:spPr>
          <a:xfrm>
            <a:off x="8659780" y="6903837"/>
            <a:ext cx="694795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branch with </a:t>
            </a:r>
            <a:r>
              <a:rPr lang="en-US" sz="12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NAT/PAT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502624" y="7212635"/>
            <a:ext cx="148885" cy="132342"/>
          </a:xfrm>
          <a:custGeom>
            <a:avLst/>
            <a:gdLst/>
            <a:ahLst/>
            <a:cxnLst/>
            <a:rect l="l" t="t" r="r" b="b"/>
            <a:pathLst>
              <a:path w="148885" h="132342">
                <a:moveTo>
                  <a:pt x="80000" y="-4885"/>
                </a:moveTo>
                <a:cubicBezTo>
                  <a:pt x="78940" y="-6953"/>
                  <a:pt x="76795" y="-8271"/>
                  <a:pt x="74468" y="-8271"/>
                </a:cubicBezTo>
                <a:cubicBezTo>
                  <a:pt x="72142" y="-8271"/>
                  <a:pt x="69996" y="-6953"/>
                  <a:pt x="68937" y="-4885"/>
                </a:cubicBezTo>
                <a:lnTo>
                  <a:pt x="49913" y="32388"/>
                </a:lnTo>
                <a:lnTo>
                  <a:pt x="8582" y="38953"/>
                </a:lnTo>
                <a:cubicBezTo>
                  <a:pt x="6281" y="39315"/>
                  <a:pt x="4368" y="40943"/>
                  <a:pt x="3645" y="43166"/>
                </a:cubicBezTo>
                <a:cubicBezTo>
                  <a:pt x="2921" y="45389"/>
                  <a:pt x="3515" y="47819"/>
                  <a:pt x="5144" y="49473"/>
                </a:cubicBezTo>
                <a:lnTo>
                  <a:pt x="34714" y="79069"/>
                </a:lnTo>
                <a:lnTo>
                  <a:pt x="28200" y="120400"/>
                </a:lnTo>
                <a:cubicBezTo>
                  <a:pt x="27838" y="122701"/>
                  <a:pt x="28795" y="125027"/>
                  <a:pt x="30682" y="126397"/>
                </a:cubicBezTo>
                <a:cubicBezTo>
                  <a:pt x="32569" y="127767"/>
                  <a:pt x="35050" y="127974"/>
                  <a:pt x="37144" y="126914"/>
                </a:cubicBezTo>
                <a:lnTo>
                  <a:pt x="74468" y="107941"/>
                </a:lnTo>
                <a:lnTo>
                  <a:pt x="111767" y="126914"/>
                </a:lnTo>
                <a:cubicBezTo>
                  <a:pt x="113835" y="127974"/>
                  <a:pt x="116342" y="127767"/>
                  <a:pt x="118229" y="126397"/>
                </a:cubicBezTo>
                <a:cubicBezTo>
                  <a:pt x="120116" y="125027"/>
                  <a:pt x="121072" y="122726"/>
                  <a:pt x="120710" y="120400"/>
                </a:cubicBezTo>
                <a:lnTo>
                  <a:pt x="114171" y="79069"/>
                </a:lnTo>
                <a:lnTo>
                  <a:pt x="143741" y="49473"/>
                </a:lnTo>
                <a:cubicBezTo>
                  <a:pt x="145395" y="47819"/>
                  <a:pt x="145964" y="45389"/>
                  <a:pt x="145240" y="43166"/>
                </a:cubicBezTo>
                <a:cubicBezTo>
                  <a:pt x="144516" y="40943"/>
                  <a:pt x="142629" y="39315"/>
                  <a:pt x="140303" y="38953"/>
                </a:cubicBezTo>
                <a:lnTo>
                  <a:pt x="98998" y="32388"/>
                </a:lnTo>
                <a:lnTo>
                  <a:pt x="80000" y="-488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3" name="Text 61"/>
          <p:cNvSpPr/>
          <p:nvPr/>
        </p:nvSpPr>
        <p:spPr>
          <a:xfrm>
            <a:off x="8659780" y="7168521"/>
            <a:ext cx="694795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</a:t>
            </a:r>
            <a:r>
              <a:rPr lang="en-US" sz="12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ISP</a:t>
            </a: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internet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502624" y="7477319"/>
            <a:ext cx="148885" cy="132342"/>
          </a:xfrm>
          <a:custGeom>
            <a:avLst/>
            <a:gdLst/>
            <a:ahLst/>
            <a:cxnLst/>
            <a:rect l="l" t="t" r="r" b="b"/>
            <a:pathLst>
              <a:path w="148885" h="132342">
                <a:moveTo>
                  <a:pt x="80000" y="-4885"/>
                </a:moveTo>
                <a:cubicBezTo>
                  <a:pt x="78940" y="-6953"/>
                  <a:pt x="76795" y="-8271"/>
                  <a:pt x="74468" y="-8271"/>
                </a:cubicBezTo>
                <a:cubicBezTo>
                  <a:pt x="72142" y="-8271"/>
                  <a:pt x="69996" y="-6953"/>
                  <a:pt x="68937" y="-4885"/>
                </a:cubicBezTo>
                <a:lnTo>
                  <a:pt x="49913" y="32388"/>
                </a:lnTo>
                <a:lnTo>
                  <a:pt x="8582" y="38953"/>
                </a:lnTo>
                <a:cubicBezTo>
                  <a:pt x="6281" y="39315"/>
                  <a:pt x="4368" y="40943"/>
                  <a:pt x="3645" y="43166"/>
                </a:cubicBezTo>
                <a:cubicBezTo>
                  <a:pt x="2921" y="45389"/>
                  <a:pt x="3515" y="47819"/>
                  <a:pt x="5144" y="49473"/>
                </a:cubicBezTo>
                <a:lnTo>
                  <a:pt x="34714" y="79069"/>
                </a:lnTo>
                <a:lnTo>
                  <a:pt x="28200" y="120400"/>
                </a:lnTo>
                <a:cubicBezTo>
                  <a:pt x="27838" y="122701"/>
                  <a:pt x="28795" y="125027"/>
                  <a:pt x="30682" y="126397"/>
                </a:cubicBezTo>
                <a:cubicBezTo>
                  <a:pt x="32569" y="127767"/>
                  <a:pt x="35050" y="127974"/>
                  <a:pt x="37144" y="126914"/>
                </a:cubicBezTo>
                <a:lnTo>
                  <a:pt x="74468" y="107941"/>
                </a:lnTo>
                <a:lnTo>
                  <a:pt x="111767" y="126914"/>
                </a:lnTo>
                <a:cubicBezTo>
                  <a:pt x="113835" y="127974"/>
                  <a:pt x="116342" y="127767"/>
                  <a:pt x="118229" y="126397"/>
                </a:cubicBezTo>
                <a:cubicBezTo>
                  <a:pt x="120116" y="125027"/>
                  <a:pt x="121072" y="122726"/>
                  <a:pt x="120710" y="120400"/>
                </a:cubicBezTo>
                <a:lnTo>
                  <a:pt x="114171" y="79069"/>
                </a:lnTo>
                <a:lnTo>
                  <a:pt x="143741" y="49473"/>
                </a:lnTo>
                <a:cubicBezTo>
                  <a:pt x="145395" y="47819"/>
                  <a:pt x="145964" y="45389"/>
                  <a:pt x="145240" y="43166"/>
                </a:cubicBezTo>
                <a:cubicBezTo>
                  <a:pt x="144516" y="40943"/>
                  <a:pt x="142629" y="39315"/>
                  <a:pt x="140303" y="38953"/>
                </a:cubicBezTo>
                <a:lnTo>
                  <a:pt x="98998" y="32388"/>
                </a:lnTo>
                <a:lnTo>
                  <a:pt x="80000" y="-488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5" name="Text 63"/>
          <p:cNvSpPr/>
          <p:nvPr/>
        </p:nvSpPr>
        <p:spPr>
          <a:xfrm>
            <a:off x="8659780" y="7433205"/>
            <a:ext cx="694795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mesh </a:t>
            </a:r>
            <a:r>
              <a:rPr lang="en-US" sz="12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router-switch</a:t>
            </a: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connectivity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502624" y="7742003"/>
            <a:ext cx="148885" cy="132342"/>
          </a:xfrm>
          <a:custGeom>
            <a:avLst/>
            <a:gdLst/>
            <a:ahLst/>
            <a:cxnLst/>
            <a:rect l="l" t="t" r="r" b="b"/>
            <a:pathLst>
              <a:path w="148885" h="132342">
                <a:moveTo>
                  <a:pt x="80000" y="-4885"/>
                </a:moveTo>
                <a:cubicBezTo>
                  <a:pt x="78940" y="-6953"/>
                  <a:pt x="76795" y="-8271"/>
                  <a:pt x="74468" y="-8271"/>
                </a:cubicBezTo>
                <a:cubicBezTo>
                  <a:pt x="72142" y="-8271"/>
                  <a:pt x="69996" y="-6953"/>
                  <a:pt x="68937" y="-4885"/>
                </a:cubicBezTo>
                <a:lnTo>
                  <a:pt x="49913" y="32388"/>
                </a:lnTo>
                <a:lnTo>
                  <a:pt x="8582" y="38953"/>
                </a:lnTo>
                <a:cubicBezTo>
                  <a:pt x="6281" y="39315"/>
                  <a:pt x="4368" y="40943"/>
                  <a:pt x="3645" y="43166"/>
                </a:cubicBezTo>
                <a:cubicBezTo>
                  <a:pt x="2921" y="45389"/>
                  <a:pt x="3515" y="47819"/>
                  <a:pt x="5144" y="49473"/>
                </a:cubicBezTo>
                <a:lnTo>
                  <a:pt x="34714" y="79069"/>
                </a:lnTo>
                <a:lnTo>
                  <a:pt x="28200" y="120400"/>
                </a:lnTo>
                <a:cubicBezTo>
                  <a:pt x="27838" y="122701"/>
                  <a:pt x="28795" y="125027"/>
                  <a:pt x="30682" y="126397"/>
                </a:cubicBezTo>
                <a:cubicBezTo>
                  <a:pt x="32569" y="127767"/>
                  <a:pt x="35050" y="127974"/>
                  <a:pt x="37144" y="126914"/>
                </a:cubicBezTo>
                <a:lnTo>
                  <a:pt x="74468" y="107941"/>
                </a:lnTo>
                <a:lnTo>
                  <a:pt x="111767" y="126914"/>
                </a:lnTo>
                <a:cubicBezTo>
                  <a:pt x="113835" y="127974"/>
                  <a:pt x="116342" y="127767"/>
                  <a:pt x="118229" y="126397"/>
                </a:cubicBezTo>
                <a:cubicBezTo>
                  <a:pt x="120116" y="125027"/>
                  <a:pt x="121072" y="122726"/>
                  <a:pt x="120710" y="120400"/>
                </a:cubicBezTo>
                <a:lnTo>
                  <a:pt x="114171" y="79069"/>
                </a:lnTo>
                <a:lnTo>
                  <a:pt x="143741" y="49473"/>
                </a:lnTo>
                <a:cubicBezTo>
                  <a:pt x="145395" y="47819"/>
                  <a:pt x="145964" y="45389"/>
                  <a:pt x="145240" y="43166"/>
                </a:cubicBezTo>
                <a:cubicBezTo>
                  <a:pt x="144516" y="40943"/>
                  <a:pt x="142629" y="39315"/>
                  <a:pt x="140303" y="38953"/>
                </a:cubicBezTo>
                <a:lnTo>
                  <a:pt x="98998" y="32388"/>
                </a:lnTo>
                <a:lnTo>
                  <a:pt x="80000" y="-488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7" name="Text 65"/>
          <p:cNvSpPr/>
          <p:nvPr/>
        </p:nvSpPr>
        <p:spPr>
          <a:xfrm>
            <a:off x="8659780" y="7697889"/>
            <a:ext cx="694795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function </a:t>
            </a:r>
            <a:r>
              <a:rPr lang="en-US" sz="12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independently</a:t>
            </a:r>
            <a:r>
              <a:rPr lang="en-US" sz="121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HQ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4816" y="9280481"/>
            <a:ext cx="5025317" cy="801404"/>
          </a:xfrm>
          <a:custGeom>
            <a:avLst/>
            <a:gdLst/>
            <a:ahLst/>
            <a:cxnLst/>
            <a:rect l="l" t="t" r="r" b="b"/>
            <a:pathLst>
              <a:path w="5025317" h="801404">
                <a:moveTo>
                  <a:pt x="0" y="0"/>
                </a:moveTo>
                <a:lnTo>
                  <a:pt x="5025317" y="0"/>
                </a:lnTo>
                <a:lnTo>
                  <a:pt x="5025317" y="801404"/>
                </a:lnTo>
                <a:lnTo>
                  <a:pt x="0" y="801404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6720" y="9416492"/>
            <a:ext cx="4841509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8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CRITICAL NOTE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42234" y="9725290"/>
            <a:ext cx="4830480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B1 &amp; B4 share 172.16.0.0/16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612584" y="9280481"/>
            <a:ext cx="5025317" cy="801404"/>
          </a:xfrm>
          <a:custGeom>
            <a:avLst/>
            <a:gdLst/>
            <a:ahLst/>
            <a:cxnLst/>
            <a:rect l="l" t="t" r="r" b="b"/>
            <a:pathLst>
              <a:path w="5025317" h="801404">
                <a:moveTo>
                  <a:pt x="0" y="0"/>
                </a:moveTo>
                <a:lnTo>
                  <a:pt x="5025317" y="0"/>
                </a:lnTo>
                <a:lnTo>
                  <a:pt x="5025317" y="801404"/>
                </a:lnTo>
                <a:lnTo>
                  <a:pt x="0" y="801404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10196"/>
            </a:srgbClr>
          </a:solidFill>
          <a:ln w="8467">
            <a:solidFill>
              <a:srgbClr val="6F7D8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04488" y="9416492"/>
            <a:ext cx="4841509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89" b="1" dirty="0">
                <a:solidFill>
                  <a:srgbClr val="6F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 1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710003" y="9725290"/>
            <a:ext cx="4830480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infrastructure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0780468" y="9280481"/>
            <a:ext cx="5025317" cy="801404"/>
          </a:xfrm>
          <a:custGeom>
            <a:avLst/>
            <a:gdLst/>
            <a:ahLst/>
            <a:cxnLst/>
            <a:rect l="l" t="t" r="r" b="b"/>
            <a:pathLst>
              <a:path w="5025317" h="801404">
                <a:moveTo>
                  <a:pt x="0" y="0"/>
                </a:moveTo>
                <a:lnTo>
                  <a:pt x="5025317" y="0"/>
                </a:lnTo>
                <a:lnTo>
                  <a:pt x="5025317" y="801404"/>
                </a:lnTo>
                <a:lnTo>
                  <a:pt x="0" y="801404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10196"/>
            </a:srgbClr>
          </a:solidFill>
          <a:ln w="8467">
            <a:solidFill>
              <a:srgbClr val="A9B4C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872372" y="9416492"/>
            <a:ext cx="4841509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89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 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877886" y="9725290"/>
            <a:ext cx="4830480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independent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gb.com/f3b85bab1acc7291f9fefa978583d0432591bcf7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3400" y="1930400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4ECD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9354" y="2260600"/>
            <a:ext cx="157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0" y="21082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4"/>
          <p:cNvSpPr/>
          <p:nvPr/>
        </p:nvSpPr>
        <p:spPr>
          <a:xfrm>
            <a:off x="2997200" y="1079500"/>
            <a:ext cx="833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Emergency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Response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97200" y="3111500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6"/>
          <p:cNvSpPr/>
          <p:nvPr/>
        </p:nvSpPr>
        <p:spPr>
          <a:xfrm>
            <a:off x="2997200" y="3365500"/>
            <a:ext cx="8026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Mission-critical network infrastructure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 emergency services with extreme redundancy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49657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863600" y="49657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" y="5676900"/>
            <a:ext cx="302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" y="6083300"/>
            <a:ext cx="300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services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90458" y="49657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4420658" y="49657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20658" y="5676900"/>
            <a:ext cx="302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Services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20658" y="6083300"/>
            <a:ext cx="300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Life-saving teams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47649" y="49657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Text 16"/>
          <p:cNvSpPr/>
          <p:nvPr/>
        </p:nvSpPr>
        <p:spPr>
          <a:xfrm>
            <a:off x="7977849" y="49657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570+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977849" y="5676900"/>
            <a:ext cx="302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Capacity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977849" y="6083300"/>
            <a:ext cx="300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Mission-critical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20700" y="6858000"/>
            <a:ext cx="10337800" cy="1193800"/>
          </a:xfrm>
          <a:custGeom>
            <a:avLst/>
            <a:gdLst/>
            <a:ahLst/>
            <a:cxnLst/>
            <a:rect l="l" t="t" r="r" b="b"/>
            <a:pathLst>
              <a:path w="10337800" h="1193800">
                <a:moveTo>
                  <a:pt x="0" y="0"/>
                </a:moveTo>
                <a:lnTo>
                  <a:pt x="10337800" y="0"/>
                </a:lnTo>
                <a:lnTo>
                  <a:pt x="103378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3750" y="7226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1"/>
          <p:cNvSpPr/>
          <p:nvPr/>
        </p:nvSpPr>
        <p:spPr>
          <a:xfrm>
            <a:off x="1511300" y="7073900"/>
            <a:ext cx="749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REDUNDANCY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11300" y="7480300"/>
            <a:ext cx="748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single point of failure for life-critical emergency response operations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861" y="426861"/>
            <a:ext cx="2335389" cy="356306"/>
          </a:xfrm>
          <a:custGeom>
            <a:avLst/>
            <a:gdLst/>
            <a:ahLst/>
            <a:cxnLst/>
            <a:rect l="l" t="t" r="r" b="b"/>
            <a:pathLst>
              <a:path w="2335389" h="356306">
                <a:moveTo>
                  <a:pt x="0" y="0"/>
                </a:moveTo>
                <a:lnTo>
                  <a:pt x="2335389" y="0"/>
                </a:lnTo>
                <a:lnTo>
                  <a:pt x="2335389" y="356306"/>
                </a:lnTo>
                <a:lnTo>
                  <a:pt x="0" y="35630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389" y="479774"/>
            <a:ext cx="2155362" cy="24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RESPONSE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3 (E-Site): Emergency Network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504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Life-critical infrastructure with load-balanced HSRP and dedicated emergency services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861" y="1802694"/>
            <a:ext cx="7637639" cy="8738306"/>
          </a:xfrm>
          <a:custGeom>
            <a:avLst/>
            <a:gdLst/>
            <a:ahLst/>
            <a:cxnLst/>
            <a:rect l="l" t="t" r="r" b="b"/>
            <a:pathLst>
              <a:path w="7637639" h="8738306">
                <a:moveTo>
                  <a:pt x="0" y="0"/>
                </a:moveTo>
                <a:lnTo>
                  <a:pt x="7637639" y="0"/>
                </a:lnTo>
                <a:lnTo>
                  <a:pt x="7637639" y="8738306"/>
                </a:lnTo>
                <a:lnTo>
                  <a:pt x="0" y="8738306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941" y="198614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25040" y="166688"/>
                </a:lnTo>
                <a:cubicBezTo>
                  <a:pt x="28910" y="180417"/>
                  <a:pt x="41560" y="190500"/>
                  <a:pt x="56555" y="190500"/>
                </a:cubicBezTo>
                <a:cubicBezTo>
                  <a:pt x="71549" y="190500"/>
                  <a:pt x="84162" y="180417"/>
                  <a:pt x="88069" y="166688"/>
                </a:cubicBezTo>
                <a:lnTo>
                  <a:pt x="126243" y="166688"/>
                </a:lnTo>
                <a:cubicBezTo>
                  <a:pt x="130113" y="180417"/>
                  <a:pt x="142763" y="190500"/>
                  <a:pt x="157758" y="190500"/>
                </a:cubicBezTo>
                <a:cubicBezTo>
                  <a:pt x="172752" y="190500"/>
                  <a:pt x="185365" y="180417"/>
                  <a:pt x="18927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88292"/>
                </a:lnTo>
                <a:cubicBezTo>
                  <a:pt x="214313" y="81967"/>
                  <a:pt x="211820" y="75902"/>
                  <a:pt x="207355" y="71438"/>
                </a:cubicBezTo>
                <a:lnTo>
                  <a:pt x="190500" y="54583"/>
                </a:lnTo>
                <a:cubicBezTo>
                  <a:pt x="186035" y="50118"/>
                  <a:pt x="179970" y="47625"/>
                  <a:pt x="173645" y="47625"/>
                </a:cubicBezTo>
                <a:lnTo>
                  <a:pt x="154781" y="47625"/>
                </a:lnTo>
                <a:lnTo>
                  <a:pt x="154781" y="35719"/>
                </a:lnTo>
                <a:cubicBezTo>
                  <a:pt x="154781" y="22585"/>
                  <a:pt x="144103" y="11906"/>
                  <a:pt x="130969" y="11906"/>
                </a:cubicBezTo>
                <a:lnTo>
                  <a:pt x="23812" y="11906"/>
                </a:lnTo>
                <a:close/>
                <a:moveTo>
                  <a:pt x="190500" y="88292"/>
                </a:moveTo>
                <a:lnTo>
                  <a:pt x="190500" y="107156"/>
                </a:lnTo>
                <a:lnTo>
                  <a:pt x="154781" y="107156"/>
                </a:lnTo>
                <a:lnTo>
                  <a:pt x="154781" y="71438"/>
                </a:lnTo>
                <a:lnTo>
                  <a:pt x="173645" y="71438"/>
                </a:lnTo>
                <a:lnTo>
                  <a:pt x="190500" y="88292"/>
                </a:lnTo>
                <a:close/>
                <a:moveTo>
                  <a:pt x="56555" y="142875"/>
                </a:moveTo>
                <a:cubicBezTo>
                  <a:pt x="64769" y="142875"/>
                  <a:pt x="71438" y="149544"/>
                  <a:pt x="71438" y="157758"/>
                </a:cubicBezTo>
                <a:cubicBezTo>
                  <a:pt x="71438" y="165972"/>
                  <a:pt x="64769" y="172641"/>
                  <a:pt x="56555" y="172641"/>
                </a:cubicBezTo>
                <a:cubicBezTo>
                  <a:pt x="48341" y="172641"/>
                  <a:pt x="41672" y="165972"/>
                  <a:pt x="41672" y="157758"/>
                </a:cubicBezTo>
                <a:cubicBezTo>
                  <a:pt x="41672" y="149544"/>
                  <a:pt x="48341" y="142875"/>
                  <a:pt x="56555" y="142875"/>
                </a:cubicBezTo>
                <a:close/>
                <a:moveTo>
                  <a:pt x="142875" y="157758"/>
                </a:moveTo>
                <a:cubicBezTo>
                  <a:pt x="142875" y="149544"/>
                  <a:pt x="149544" y="142875"/>
                  <a:pt x="157758" y="142875"/>
                </a:cubicBezTo>
                <a:cubicBezTo>
                  <a:pt x="165972" y="142875"/>
                  <a:pt x="172641" y="149544"/>
                  <a:pt x="172641" y="157758"/>
                </a:cubicBezTo>
                <a:cubicBezTo>
                  <a:pt x="172641" y="165972"/>
                  <a:pt x="165972" y="172641"/>
                  <a:pt x="157758" y="172641"/>
                </a:cubicBezTo>
                <a:cubicBezTo>
                  <a:pt x="149544" y="172641"/>
                  <a:pt x="142875" y="165972"/>
                  <a:pt x="142875" y="157758"/>
                </a:cubicBezTo>
                <a:close/>
                <a:moveTo>
                  <a:pt x="65484" y="50602"/>
                </a:moveTo>
                <a:cubicBezTo>
                  <a:pt x="65484" y="47327"/>
                  <a:pt x="68163" y="44648"/>
                  <a:pt x="71438" y="44648"/>
                </a:cubicBezTo>
                <a:lnTo>
                  <a:pt x="83344" y="44648"/>
                </a:lnTo>
                <a:cubicBezTo>
                  <a:pt x="86618" y="44648"/>
                  <a:pt x="89297" y="47327"/>
                  <a:pt x="89297" y="50602"/>
                </a:cubicBezTo>
                <a:lnTo>
                  <a:pt x="89297" y="65484"/>
                </a:lnTo>
                <a:lnTo>
                  <a:pt x="104180" y="65484"/>
                </a:lnTo>
                <a:cubicBezTo>
                  <a:pt x="107454" y="65484"/>
                  <a:pt x="110133" y="68163"/>
                  <a:pt x="110133" y="71438"/>
                </a:cubicBezTo>
                <a:lnTo>
                  <a:pt x="110133" y="83344"/>
                </a:lnTo>
                <a:cubicBezTo>
                  <a:pt x="110133" y="86618"/>
                  <a:pt x="107454" y="89297"/>
                  <a:pt x="104180" y="89297"/>
                </a:cubicBezTo>
                <a:lnTo>
                  <a:pt x="89297" y="89297"/>
                </a:lnTo>
                <a:lnTo>
                  <a:pt x="89297" y="104180"/>
                </a:lnTo>
                <a:cubicBezTo>
                  <a:pt x="89297" y="107454"/>
                  <a:pt x="86618" y="110133"/>
                  <a:pt x="83344" y="110133"/>
                </a:cubicBezTo>
                <a:lnTo>
                  <a:pt x="71438" y="110133"/>
                </a:lnTo>
                <a:cubicBezTo>
                  <a:pt x="68163" y="110133"/>
                  <a:pt x="65484" y="107454"/>
                  <a:pt x="65484" y="104180"/>
                </a:cubicBezTo>
                <a:lnTo>
                  <a:pt x="65484" y="89297"/>
                </a:lnTo>
                <a:lnTo>
                  <a:pt x="50602" y="89297"/>
                </a:lnTo>
                <a:cubicBezTo>
                  <a:pt x="47327" y="89297"/>
                  <a:pt x="44648" y="86618"/>
                  <a:pt x="44648" y="83344"/>
                </a:cubicBezTo>
                <a:lnTo>
                  <a:pt x="44648" y="71438"/>
                </a:lnTo>
                <a:cubicBezTo>
                  <a:pt x="44648" y="68163"/>
                  <a:pt x="47327" y="65484"/>
                  <a:pt x="50602" y="65484"/>
                </a:cubicBezTo>
                <a:lnTo>
                  <a:pt x="65484" y="65484"/>
                </a:lnTo>
                <a:lnTo>
                  <a:pt x="65484" y="5060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800806" y="1933226"/>
            <a:ext cx="722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Services VLANs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314226"/>
            <a:ext cx="7358944" cy="677333"/>
          </a:xfrm>
          <a:custGeom>
            <a:avLst/>
            <a:gdLst/>
            <a:ahLst/>
            <a:cxnLst/>
            <a:rect l="l" t="t" r="r" b="b"/>
            <a:pathLst>
              <a:path w="7358944" h="677333">
                <a:moveTo>
                  <a:pt x="0" y="0"/>
                </a:moveTo>
                <a:lnTo>
                  <a:pt x="7358944" y="0"/>
                </a:lnTo>
                <a:lnTo>
                  <a:pt x="7358944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2314226"/>
            <a:ext cx="28222" cy="677333"/>
          </a:xfrm>
          <a:custGeom>
            <a:avLst/>
            <a:gdLst/>
            <a:ahLst/>
            <a:cxnLst/>
            <a:rect l="l" t="t" r="r" b="b"/>
            <a:pathLst>
              <a:path w="28222" h="677333">
                <a:moveTo>
                  <a:pt x="0" y="0"/>
                </a:moveTo>
                <a:lnTo>
                  <a:pt x="28222" y="0"/>
                </a:lnTo>
                <a:lnTo>
                  <a:pt x="28222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670278" y="2398892"/>
            <a:ext cx="1280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🚑 Ambulance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6465" y="2420059"/>
            <a:ext cx="68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 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0278" y="2695226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Network: 10.10.10.0/24 | Gateway: 10.10.10.1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076226"/>
            <a:ext cx="7358944" cy="677333"/>
          </a:xfrm>
          <a:custGeom>
            <a:avLst/>
            <a:gdLst/>
            <a:ahLst/>
            <a:cxnLst/>
            <a:rect l="l" t="t" r="r" b="b"/>
            <a:pathLst>
              <a:path w="7358944" h="677333">
                <a:moveTo>
                  <a:pt x="0" y="0"/>
                </a:moveTo>
                <a:lnTo>
                  <a:pt x="7358944" y="0"/>
                </a:lnTo>
                <a:lnTo>
                  <a:pt x="7358944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3076226"/>
            <a:ext cx="28222" cy="677333"/>
          </a:xfrm>
          <a:custGeom>
            <a:avLst/>
            <a:gdLst/>
            <a:ahLst/>
            <a:cxnLst/>
            <a:rect l="l" t="t" r="r" b="b"/>
            <a:pathLst>
              <a:path w="28222" h="677333">
                <a:moveTo>
                  <a:pt x="0" y="0"/>
                </a:moveTo>
                <a:lnTo>
                  <a:pt x="28222" y="0"/>
                </a:lnTo>
                <a:lnTo>
                  <a:pt x="28222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6" name="Text 14"/>
          <p:cNvSpPr/>
          <p:nvPr/>
        </p:nvSpPr>
        <p:spPr>
          <a:xfrm>
            <a:off x="670278" y="3160892"/>
            <a:ext cx="98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🏥 Medical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36465" y="3182059"/>
            <a:ext cx="68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 20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0278" y="3457226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Network: 10.10.20.0/24 | Gateway: 10.10.20.1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3838226"/>
            <a:ext cx="7358944" cy="677333"/>
          </a:xfrm>
          <a:custGeom>
            <a:avLst/>
            <a:gdLst/>
            <a:ahLst/>
            <a:cxnLst/>
            <a:rect l="l" t="t" r="r" b="b"/>
            <a:pathLst>
              <a:path w="7358944" h="677333">
                <a:moveTo>
                  <a:pt x="0" y="0"/>
                </a:moveTo>
                <a:lnTo>
                  <a:pt x="7358944" y="0"/>
                </a:lnTo>
                <a:lnTo>
                  <a:pt x="7358944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838226"/>
            <a:ext cx="28222" cy="677333"/>
          </a:xfrm>
          <a:custGeom>
            <a:avLst/>
            <a:gdLst/>
            <a:ahLst/>
            <a:cxnLst/>
            <a:rect l="l" t="t" r="r" b="b"/>
            <a:pathLst>
              <a:path w="28222" h="677333">
                <a:moveTo>
                  <a:pt x="0" y="0"/>
                </a:moveTo>
                <a:lnTo>
                  <a:pt x="28222" y="0"/>
                </a:lnTo>
                <a:lnTo>
                  <a:pt x="28222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78" y="3922892"/>
            <a:ext cx="86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👮 Police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36465" y="3944059"/>
            <a:ext cx="68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 30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0278" y="4219226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Network: 10.10.30.0/24 | Gateway: 10.10.30.1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4600226"/>
            <a:ext cx="7358944" cy="677333"/>
          </a:xfrm>
          <a:custGeom>
            <a:avLst/>
            <a:gdLst/>
            <a:ahLst/>
            <a:cxnLst/>
            <a:rect l="l" t="t" r="r" b="b"/>
            <a:pathLst>
              <a:path w="7358944" h="677333">
                <a:moveTo>
                  <a:pt x="0" y="0"/>
                </a:moveTo>
                <a:lnTo>
                  <a:pt x="7358944" y="0"/>
                </a:lnTo>
                <a:lnTo>
                  <a:pt x="7358944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" y="4600226"/>
            <a:ext cx="28222" cy="677333"/>
          </a:xfrm>
          <a:custGeom>
            <a:avLst/>
            <a:gdLst/>
            <a:ahLst/>
            <a:cxnLst/>
            <a:rect l="l" t="t" r="r" b="b"/>
            <a:pathLst>
              <a:path w="28222" h="677333">
                <a:moveTo>
                  <a:pt x="0" y="0"/>
                </a:moveTo>
                <a:lnTo>
                  <a:pt x="28222" y="0"/>
                </a:lnTo>
                <a:lnTo>
                  <a:pt x="28222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6" name="Text 24"/>
          <p:cNvSpPr/>
          <p:nvPr/>
        </p:nvSpPr>
        <p:spPr>
          <a:xfrm>
            <a:off x="670278" y="4684892"/>
            <a:ext cx="963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🚒 Rescue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6465" y="4706059"/>
            <a:ext cx="68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 40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0278" y="4981226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Network: 10.10.40.0/24 | Gateway: 10.10.40.1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0917" y="5365753"/>
            <a:ext cx="7362472" cy="980722"/>
          </a:xfrm>
          <a:custGeom>
            <a:avLst/>
            <a:gdLst/>
            <a:ahLst/>
            <a:cxnLst/>
            <a:rect l="l" t="t" r="r" b="b"/>
            <a:pathLst>
              <a:path w="7362472" h="980722">
                <a:moveTo>
                  <a:pt x="0" y="0"/>
                </a:moveTo>
                <a:lnTo>
                  <a:pt x="7362472" y="0"/>
                </a:lnTo>
                <a:lnTo>
                  <a:pt x="7362472" y="980722"/>
                </a:lnTo>
                <a:lnTo>
                  <a:pt x="0" y="980722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111" y="5453941"/>
            <a:ext cx="727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Load-Balanced HSRP Configuration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111" y="5792608"/>
            <a:ext cx="7260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E-Core-1 Active:</a:t>
            </a:r>
            <a:r>
              <a:rPr lang="en-US" sz="116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VLAN 10,20,30,50,70,80,90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111" y="6046608"/>
            <a:ext cx="7260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E-Core-2 Active:</a:t>
            </a:r>
            <a:r>
              <a:rPr lang="en-US" sz="116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VLAN 40,60 (Rescue &amp; IT)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0917" y="6438194"/>
            <a:ext cx="7362472" cy="938389"/>
          </a:xfrm>
          <a:custGeom>
            <a:avLst/>
            <a:gdLst/>
            <a:ahLst/>
            <a:cxnLst/>
            <a:rect l="l" t="t" r="r" b="b"/>
            <a:pathLst>
              <a:path w="7362472" h="938389">
                <a:moveTo>
                  <a:pt x="0" y="0"/>
                </a:moveTo>
                <a:lnTo>
                  <a:pt x="7362472" y="0"/>
                </a:lnTo>
                <a:lnTo>
                  <a:pt x="7362472" y="938389"/>
                </a:lnTo>
                <a:lnTo>
                  <a:pt x="0" y="93838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111" y="6526392"/>
            <a:ext cx="727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VLANs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111" y="6822726"/>
            <a:ext cx="7260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10.10.50.0/24 | </a:t>
            </a: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10.10.60.0/24 | </a:t>
            </a: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10.10.70.0/24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111" y="7076726"/>
            <a:ext cx="7260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10.10.80.0/24 | </a:t>
            </a: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Servers: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10.10.90.0/24 | </a:t>
            </a: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Management:</a:t>
            </a: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10.10.99.0/24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95028" y="1802694"/>
            <a:ext cx="7637639" cy="4663722"/>
          </a:xfrm>
          <a:custGeom>
            <a:avLst/>
            <a:gdLst/>
            <a:ahLst/>
            <a:cxnLst/>
            <a:rect l="l" t="t" r="r" b="b"/>
            <a:pathLst>
              <a:path w="7637639" h="4663722">
                <a:moveTo>
                  <a:pt x="0" y="0"/>
                </a:moveTo>
                <a:lnTo>
                  <a:pt x="7637639" y="0"/>
                </a:lnTo>
                <a:lnTo>
                  <a:pt x="7637639" y="4663722"/>
                </a:lnTo>
                <a:lnTo>
                  <a:pt x="0" y="4663722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3920" y="198614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8568972" y="1933226"/>
            <a:ext cx="722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Server Farm (VLAN 90)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39667" y="2314226"/>
            <a:ext cx="7358944" cy="635000"/>
          </a:xfrm>
          <a:custGeom>
            <a:avLst/>
            <a:gdLst/>
            <a:ahLst/>
            <a:cxnLst/>
            <a:rect l="l" t="t" r="r" b="b"/>
            <a:pathLst>
              <a:path w="7358944" h="635000">
                <a:moveTo>
                  <a:pt x="0" y="0"/>
                </a:moveTo>
                <a:lnTo>
                  <a:pt x="7358944" y="0"/>
                </a:lnTo>
                <a:lnTo>
                  <a:pt x="7358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8339667" y="2314226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8438445" y="2398892"/>
            <a:ext cx="726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📡 DHCP Server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38445" y="2652892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10.10.90.11 | 9 pools | 570+ device capacity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39667" y="2991559"/>
            <a:ext cx="7358944" cy="635000"/>
          </a:xfrm>
          <a:custGeom>
            <a:avLst/>
            <a:gdLst/>
            <a:ahLst/>
            <a:cxnLst/>
            <a:rect l="l" t="t" r="r" b="b"/>
            <a:pathLst>
              <a:path w="7358944" h="635000">
                <a:moveTo>
                  <a:pt x="0" y="0"/>
                </a:moveTo>
                <a:lnTo>
                  <a:pt x="7358944" y="0"/>
                </a:lnTo>
                <a:lnTo>
                  <a:pt x="7358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Shape 43"/>
          <p:cNvSpPr/>
          <p:nvPr/>
        </p:nvSpPr>
        <p:spPr>
          <a:xfrm>
            <a:off x="8339667" y="2991559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6" name="Text 44"/>
          <p:cNvSpPr/>
          <p:nvPr/>
        </p:nvSpPr>
        <p:spPr>
          <a:xfrm>
            <a:off x="8438445" y="3076226"/>
            <a:ext cx="726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🌐 DNS Server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38445" y="3330226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10.10.90.10 | Domain: emergency.com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39667" y="3668892"/>
            <a:ext cx="7358944" cy="635000"/>
          </a:xfrm>
          <a:custGeom>
            <a:avLst/>
            <a:gdLst/>
            <a:ahLst/>
            <a:cxnLst/>
            <a:rect l="l" t="t" r="r" b="b"/>
            <a:pathLst>
              <a:path w="7358944" h="635000">
                <a:moveTo>
                  <a:pt x="0" y="0"/>
                </a:moveTo>
                <a:lnTo>
                  <a:pt x="7358944" y="0"/>
                </a:lnTo>
                <a:lnTo>
                  <a:pt x="7358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Shape 47"/>
          <p:cNvSpPr/>
          <p:nvPr/>
        </p:nvSpPr>
        <p:spPr>
          <a:xfrm>
            <a:off x="8339667" y="3668892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8438445" y="3753559"/>
            <a:ext cx="726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📧 EMAIL Server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38445" y="4007559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10.10.90.13 | Domain: helpline.centre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39667" y="4346226"/>
            <a:ext cx="7358944" cy="635000"/>
          </a:xfrm>
          <a:custGeom>
            <a:avLst/>
            <a:gdLst/>
            <a:ahLst/>
            <a:cxnLst/>
            <a:rect l="l" t="t" r="r" b="b"/>
            <a:pathLst>
              <a:path w="7358944" h="635000">
                <a:moveTo>
                  <a:pt x="0" y="0"/>
                </a:moveTo>
                <a:lnTo>
                  <a:pt x="7358944" y="0"/>
                </a:lnTo>
                <a:lnTo>
                  <a:pt x="7358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Shape 51"/>
          <p:cNvSpPr/>
          <p:nvPr/>
        </p:nvSpPr>
        <p:spPr>
          <a:xfrm>
            <a:off x="8339667" y="4346226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4" name="Text 52"/>
          <p:cNvSpPr/>
          <p:nvPr/>
        </p:nvSpPr>
        <p:spPr>
          <a:xfrm>
            <a:off x="8438445" y="4430892"/>
            <a:ext cx="726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🔐 AAA/RADIUS Server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38445" y="4684892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10.10.90.12 | Port: 1645 | Full AAA implementation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39667" y="5023559"/>
            <a:ext cx="7358944" cy="635000"/>
          </a:xfrm>
          <a:custGeom>
            <a:avLst/>
            <a:gdLst/>
            <a:ahLst/>
            <a:cxnLst/>
            <a:rect l="l" t="t" r="r" b="b"/>
            <a:pathLst>
              <a:path w="7358944" h="635000">
                <a:moveTo>
                  <a:pt x="0" y="0"/>
                </a:moveTo>
                <a:lnTo>
                  <a:pt x="7358944" y="0"/>
                </a:lnTo>
                <a:lnTo>
                  <a:pt x="7358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7" name="Shape 55"/>
          <p:cNvSpPr/>
          <p:nvPr/>
        </p:nvSpPr>
        <p:spPr>
          <a:xfrm>
            <a:off x="8339667" y="5023559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8" name="Text 56"/>
          <p:cNvSpPr/>
          <p:nvPr/>
        </p:nvSpPr>
        <p:spPr>
          <a:xfrm>
            <a:off x="8438445" y="5108226"/>
            <a:ext cx="726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📁 FTP Server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38445" y="5362226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10.10.90.14 | Department-specific user access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39667" y="5700892"/>
            <a:ext cx="7358944" cy="635000"/>
          </a:xfrm>
          <a:custGeom>
            <a:avLst/>
            <a:gdLst/>
            <a:ahLst/>
            <a:cxnLst/>
            <a:rect l="l" t="t" r="r" b="b"/>
            <a:pathLst>
              <a:path w="7358944" h="635000">
                <a:moveTo>
                  <a:pt x="0" y="0"/>
                </a:moveTo>
                <a:lnTo>
                  <a:pt x="7358944" y="0"/>
                </a:lnTo>
                <a:lnTo>
                  <a:pt x="7358944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1" name="Shape 59"/>
          <p:cNvSpPr/>
          <p:nvPr/>
        </p:nvSpPr>
        <p:spPr>
          <a:xfrm>
            <a:off x="8339667" y="5700892"/>
            <a:ext cx="28222" cy="635000"/>
          </a:xfrm>
          <a:custGeom>
            <a:avLst/>
            <a:gdLst/>
            <a:ahLst/>
            <a:cxnLst/>
            <a:rect l="l" t="t" r="r" b="b"/>
            <a:pathLst>
              <a:path w="28222" h="635000">
                <a:moveTo>
                  <a:pt x="0" y="0"/>
                </a:moveTo>
                <a:lnTo>
                  <a:pt x="28222" y="0"/>
                </a:lnTo>
                <a:lnTo>
                  <a:pt x="2822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2" name="Text 60"/>
          <p:cNvSpPr/>
          <p:nvPr/>
        </p:nvSpPr>
        <p:spPr>
          <a:xfrm>
            <a:off x="8438445" y="5785559"/>
            <a:ext cx="726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🗄️ Database Server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38445" y="6039559"/>
            <a:ext cx="724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IP: 10.10.90.15 | Emergency records management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95028" y="6600469"/>
            <a:ext cx="7637639" cy="2451806"/>
          </a:xfrm>
          <a:custGeom>
            <a:avLst/>
            <a:gdLst/>
            <a:ahLst/>
            <a:cxnLst/>
            <a:rect l="l" t="t" r="r" b="b"/>
            <a:pathLst>
              <a:path w="7637639" h="2451806">
                <a:moveTo>
                  <a:pt x="0" y="0"/>
                </a:moveTo>
                <a:lnTo>
                  <a:pt x="7637639" y="0"/>
                </a:lnTo>
                <a:lnTo>
                  <a:pt x="7637639" y="2451806"/>
                </a:lnTo>
                <a:lnTo>
                  <a:pt x="0" y="2451806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40108" y="678391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27992" y="-11906"/>
                </a:moveTo>
                <a:cubicBezTo>
                  <a:pt x="175654" y="-11906"/>
                  <a:pt x="214313" y="26752"/>
                  <a:pt x="214313" y="74414"/>
                </a:cubicBezTo>
                <a:cubicBezTo>
                  <a:pt x="214313" y="79363"/>
                  <a:pt x="210331" y="83344"/>
                  <a:pt x="205383" y="83344"/>
                </a:cubicBezTo>
                <a:cubicBezTo>
                  <a:pt x="200434" y="83344"/>
                  <a:pt x="196453" y="79363"/>
                  <a:pt x="196453" y="74414"/>
                </a:cubicBezTo>
                <a:cubicBezTo>
                  <a:pt x="196453" y="36612"/>
                  <a:pt x="165795" y="5953"/>
                  <a:pt x="127992" y="5953"/>
                </a:cubicBezTo>
                <a:cubicBezTo>
                  <a:pt x="123044" y="5953"/>
                  <a:pt x="119063" y="1972"/>
                  <a:pt x="119063" y="-2977"/>
                </a:cubicBezTo>
                <a:cubicBezTo>
                  <a:pt x="119063" y="-7925"/>
                  <a:pt x="123044" y="-11906"/>
                  <a:pt x="127992" y="-11906"/>
                </a:cubicBezTo>
                <a:close/>
                <a:moveTo>
                  <a:pt x="130969" y="59531"/>
                </a:moveTo>
                <a:cubicBezTo>
                  <a:pt x="137540" y="59531"/>
                  <a:pt x="142875" y="64866"/>
                  <a:pt x="142875" y="71438"/>
                </a:cubicBezTo>
                <a:cubicBezTo>
                  <a:pt x="142875" y="78009"/>
                  <a:pt x="137540" y="83344"/>
                  <a:pt x="130969" y="83344"/>
                </a:cubicBezTo>
                <a:cubicBezTo>
                  <a:pt x="124398" y="83344"/>
                  <a:pt x="119063" y="78009"/>
                  <a:pt x="119063" y="71438"/>
                </a:cubicBezTo>
                <a:cubicBezTo>
                  <a:pt x="119063" y="64866"/>
                  <a:pt x="124398" y="59531"/>
                  <a:pt x="130969" y="59531"/>
                </a:cubicBezTo>
                <a:close/>
                <a:moveTo>
                  <a:pt x="119063" y="32742"/>
                </a:moveTo>
                <a:cubicBezTo>
                  <a:pt x="119063" y="27794"/>
                  <a:pt x="123044" y="23812"/>
                  <a:pt x="127992" y="23812"/>
                </a:cubicBezTo>
                <a:cubicBezTo>
                  <a:pt x="155935" y="23812"/>
                  <a:pt x="178594" y="46472"/>
                  <a:pt x="178594" y="74414"/>
                </a:cubicBezTo>
                <a:cubicBezTo>
                  <a:pt x="178594" y="79363"/>
                  <a:pt x="174613" y="83344"/>
                  <a:pt x="169664" y="83344"/>
                </a:cubicBezTo>
                <a:cubicBezTo>
                  <a:pt x="164716" y="83344"/>
                  <a:pt x="160734" y="79363"/>
                  <a:pt x="160734" y="74414"/>
                </a:cubicBezTo>
                <a:cubicBezTo>
                  <a:pt x="160734" y="56331"/>
                  <a:pt x="146075" y="41672"/>
                  <a:pt x="127992" y="41672"/>
                </a:cubicBezTo>
                <a:cubicBezTo>
                  <a:pt x="123044" y="41672"/>
                  <a:pt x="119063" y="37691"/>
                  <a:pt x="119063" y="32742"/>
                </a:cubicBezTo>
                <a:close/>
                <a:moveTo>
                  <a:pt x="53615" y="521"/>
                </a:moveTo>
                <a:cubicBezTo>
                  <a:pt x="60945" y="-1488"/>
                  <a:pt x="68610" y="2270"/>
                  <a:pt x="71512" y="9265"/>
                </a:cubicBezTo>
                <a:lnTo>
                  <a:pt x="86581" y="45467"/>
                </a:lnTo>
                <a:cubicBezTo>
                  <a:pt x="89148" y="51606"/>
                  <a:pt x="87362" y="58713"/>
                  <a:pt x="82190" y="62954"/>
                </a:cubicBezTo>
                <a:lnTo>
                  <a:pt x="65782" y="76386"/>
                </a:lnTo>
                <a:cubicBezTo>
                  <a:pt x="77874" y="103026"/>
                  <a:pt x="98896" y="124755"/>
                  <a:pt x="125053" y="137740"/>
                </a:cubicBezTo>
                <a:lnTo>
                  <a:pt x="139415" y="120179"/>
                </a:lnTo>
                <a:cubicBezTo>
                  <a:pt x="143619" y="115007"/>
                  <a:pt x="150726" y="113258"/>
                  <a:pt x="156902" y="115788"/>
                </a:cubicBezTo>
                <a:lnTo>
                  <a:pt x="193104" y="130894"/>
                </a:lnTo>
                <a:cubicBezTo>
                  <a:pt x="200099" y="133796"/>
                  <a:pt x="203857" y="141461"/>
                  <a:pt x="201848" y="148791"/>
                </a:cubicBezTo>
                <a:lnTo>
                  <a:pt x="201290" y="150837"/>
                </a:lnTo>
                <a:cubicBezTo>
                  <a:pt x="194742" y="174910"/>
                  <a:pt x="171487" y="195449"/>
                  <a:pt x="143098" y="189458"/>
                </a:cubicBezTo>
                <a:cubicBezTo>
                  <a:pt x="77986" y="175654"/>
                  <a:pt x="26752" y="124420"/>
                  <a:pt x="12948" y="59308"/>
                </a:cubicBezTo>
                <a:cubicBezTo>
                  <a:pt x="6958" y="30919"/>
                  <a:pt x="27496" y="7665"/>
                  <a:pt x="51532" y="1079"/>
                </a:cubicBezTo>
                <a:lnTo>
                  <a:pt x="53578" y="52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6" name="Text 64"/>
          <p:cNvSpPr/>
          <p:nvPr/>
        </p:nvSpPr>
        <p:spPr>
          <a:xfrm>
            <a:off x="8568972" y="6731000"/>
            <a:ext cx="722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VoIP System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29084" y="7115528"/>
            <a:ext cx="7362472" cy="684389"/>
          </a:xfrm>
          <a:custGeom>
            <a:avLst/>
            <a:gdLst/>
            <a:ahLst/>
            <a:cxnLst/>
            <a:rect l="l" t="t" r="r" b="b"/>
            <a:pathLst>
              <a:path w="7362472" h="684389">
                <a:moveTo>
                  <a:pt x="0" y="0"/>
                </a:moveTo>
                <a:lnTo>
                  <a:pt x="7362472" y="0"/>
                </a:lnTo>
                <a:lnTo>
                  <a:pt x="7362472" y="684389"/>
                </a:lnTo>
                <a:lnTo>
                  <a:pt x="0" y="68438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7278" y="7203726"/>
            <a:ext cx="727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E-Voice-Path (10.10.90.20)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17278" y="7500059"/>
            <a:ext cx="7260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Cisco CME | Max 20 ephones | 10 emergency hotlines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329084" y="7891635"/>
            <a:ext cx="3637139" cy="1023056"/>
          </a:xfrm>
          <a:custGeom>
            <a:avLst/>
            <a:gdLst/>
            <a:ahLst/>
            <a:cxnLst/>
            <a:rect l="l" t="t" r="r" b="b"/>
            <a:pathLst>
              <a:path w="3637139" h="1023056">
                <a:moveTo>
                  <a:pt x="0" y="0"/>
                </a:moveTo>
                <a:lnTo>
                  <a:pt x="3637139" y="0"/>
                </a:lnTo>
                <a:lnTo>
                  <a:pt x="3637139" y="1023056"/>
                </a:lnTo>
                <a:lnTo>
                  <a:pt x="0" y="10230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17278" y="7979833"/>
            <a:ext cx="3534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Hotlines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417278" y="8233833"/>
            <a:ext cx="35242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115, 2101, 3001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17278" y="8445500"/>
            <a:ext cx="35242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4001, 5001, 15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417278" y="8657167"/>
            <a:ext cx="35242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1151, 1122, 10001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2057944" y="7891635"/>
            <a:ext cx="3637139" cy="1023056"/>
          </a:xfrm>
          <a:custGeom>
            <a:avLst/>
            <a:gdLst/>
            <a:ahLst/>
            <a:cxnLst/>
            <a:rect l="l" t="t" r="r" b="b"/>
            <a:pathLst>
              <a:path w="3637139" h="1023056">
                <a:moveTo>
                  <a:pt x="0" y="0"/>
                </a:moveTo>
                <a:lnTo>
                  <a:pt x="3637139" y="0"/>
                </a:lnTo>
                <a:lnTo>
                  <a:pt x="3637139" y="1023056"/>
                </a:lnTo>
                <a:lnTo>
                  <a:pt x="0" y="10230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2146140" y="7979833"/>
            <a:ext cx="3534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Inter-Site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2146140" y="8233833"/>
            <a:ext cx="35242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HQ (6001-6005)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2146140" y="8445500"/>
            <a:ext cx="35242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Branch 2 (2001-2005)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2146140" y="8657167"/>
            <a:ext cx="35242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calls routed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26861" y="10636253"/>
            <a:ext cx="15405806" cy="430389"/>
          </a:xfrm>
          <a:custGeom>
            <a:avLst/>
            <a:gdLst/>
            <a:ahLst/>
            <a:cxnLst/>
            <a:rect l="l" t="t" r="r" b="b"/>
            <a:pathLst>
              <a:path w="15405806" h="430389">
                <a:moveTo>
                  <a:pt x="0" y="0"/>
                </a:moveTo>
                <a:lnTo>
                  <a:pt x="15405806" y="0"/>
                </a:lnTo>
                <a:lnTo>
                  <a:pt x="15405806" y="430389"/>
                </a:lnTo>
                <a:lnTo>
                  <a:pt x="0" y="430389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5056" y="10724441"/>
            <a:ext cx="730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Range: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10.10.0.0/16 | </a:t>
            </a: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OSPF Area: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Area 2 | </a:t>
            </a:r>
            <a:r>
              <a:rPr lang="en-US" sz="133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r>
              <a:rPr lang="en-US" sz="133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emergency.com / helpline.centre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anonline.com/ad5ab8063b038c7539f10c86c01ae295f867b79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5174" b="1517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3400" y="1930400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A9B4C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9751" y="2260600"/>
            <a:ext cx="157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0" y="21082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7" name="Text 4"/>
          <p:cNvSpPr/>
          <p:nvPr/>
        </p:nvSpPr>
        <p:spPr>
          <a:xfrm>
            <a:off x="2997200" y="1079500"/>
            <a:ext cx="909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Central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Distribution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97200" y="3111500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9" name="Text 6"/>
          <p:cNvSpPr/>
          <p:nvPr/>
        </p:nvSpPr>
        <p:spPr>
          <a:xfrm>
            <a:off x="2997200" y="3365500"/>
            <a:ext cx="8788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Enterprise hub connecting all sites with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dual firewalls, ISPs, and DMZ services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49657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1" name="Text 8"/>
          <p:cNvSpPr/>
          <p:nvPr/>
        </p:nvSpPr>
        <p:spPr>
          <a:xfrm>
            <a:off x="863600" y="4965700"/>
            <a:ext cx="345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" y="56769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Sites Connected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" y="6083300"/>
            <a:ext cx="326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mesh topology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43797" y="49657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5" name="Text 12"/>
          <p:cNvSpPr/>
          <p:nvPr/>
        </p:nvSpPr>
        <p:spPr>
          <a:xfrm>
            <a:off x="4673997" y="4965700"/>
            <a:ext cx="345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73997" y="56769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ISP Links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73997" y="6083300"/>
            <a:ext cx="326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PTCL + Nayatel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4194" y="49657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9" name="Text 16"/>
          <p:cNvSpPr/>
          <p:nvPr/>
        </p:nvSpPr>
        <p:spPr>
          <a:xfrm>
            <a:off x="8484394" y="4965700"/>
            <a:ext cx="345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84394" y="56769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OSPF Areas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484394" y="6083300"/>
            <a:ext cx="326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Multi-area routing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20700" y="6858000"/>
            <a:ext cx="11099800" cy="1193800"/>
          </a:xfrm>
          <a:custGeom>
            <a:avLst/>
            <a:gdLst/>
            <a:ahLst/>
            <a:cxnLst/>
            <a:rect l="l" t="t" r="r" b="b"/>
            <a:pathLst>
              <a:path w="11099800" h="1193800">
                <a:moveTo>
                  <a:pt x="0" y="0"/>
                </a:moveTo>
                <a:lnTo>
                  <a:pt x="11099800" y="0"/>
                </a:lnTo>
                <a:lnTo>
                  <a:pt x="110998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10196"/>
            </a:srgbClr>
          </a:solidFill>
          <a:ln w="25400">
            <a:solidFill>
              <a:srgbClr val="A9B4C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3750" y="7226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4" name="Text 21"/>
          <p:cNvSpPr/>
          <p:nvPr/>
        </p:nvSpPr>
        <p:spPr>
          <a:xfrm>
            <a:off x="1511300" y="7073900"/>
            <a:ext cx="694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SECURITY LAYER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11300" y="7480300"/>
            <a:ext cx="693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Cisco ASA firewalls with DMZ isolation and IPSec VPN connectivity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979" y="498979"/>
            <a:ext cx="2754695" cy="416503"/>
          </a:xfrm>
          <a:custGeom>
            <a:avLst/>
            <a:gdLst/>
            <a:ahLst/>
            <a:cxnLst/>
            <a:rect l="l" t="t" r="r" b="b"/>
            <a:pathLst>
              <a:path w="2754695" h="416503">
                <a:moveTo>
                  <a:pt x="0" y="0"/>
                </a:moveTo>
                <a:lnTo>
                  <a:pt x="2754695" y="0"/>
                </a:lnTo>
                <a:lnTo>
                  <a:pt x="2754695" y="416503"/>
                </a:lnTo>
                <a:lnTo>
                  <a:pt x="0" y="416503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20000"/>
            </a:srgbClr>
          </a:solidFill>
          <a:ln w="8467">
            <a:solidFill>
              <a:srgbClr val="A9B4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1560" y="560832"/>
            <a:ext cx="2545541" cy="288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kern="0" spc="78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DISTRIBUTION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4855" y="1014454"/>
            <a:ext cx="15488974" cy="494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Central: Hub Architecture &amp; Security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4855" y="1608280"/>
            <a:ext cx="15377632" cy="34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distribution with dual firewalls, DMZ, and multi-area OSPF routing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979" y="2107259"/>
            <a:ext cx="7554792" cy="2989751"/>
          </a:xfrm>
          <a:custGeom>
            <a:avLst/>
            <a:gdLst/>
            <a:ahLst/>
            <a:cxnLst/>
            <a:rect l="l" t="t" r="r" b="b"/>
            <a:pathLst>
              <a:path w="7554792" h="2989751">
                <a:moveTo>
                  <a:pt x="0" y="0"/>
                </a:moveTo>
                <a:lnTo>
                  <a:pt x="7554792" y="0"/>
                </a:lnTo>
                <a:lnTo>
                  <a:pt x="7554792" y="2989751"/>
                </a:lnTo>
                <a:lnTo>
                  <a:pt x="0" y="2989751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488" y="2321701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01122" y="2262"/>
                </a:moveTo>
                <a:cubicBezTo>
                  <a:pt x="107602" y="-739"/>
                  <a:pt x="115083" y="-739"/>
                  <a:pt x="121563" y="2262"/>
                </a:cubicBezTo>
                <a:lnTo>
                  <a:pt x="216639" y="46190"/>
                </a:lnTo>
                <a:cubicBezTo>
                  <a:pt x="220336" y="47886"/>
                  <a:pt x="222685" y="51583"/>
                  <a:pt x="222685" y="55671"/>
                </a:cubicBezTo>
                <a:cubicBezTo>
                  <a:pt x="222685" y="59760"/>
                  <a:pt x="220336" y="63457"/>
                  <a:pt x="216639" y="65153"/>
                </a:cubicBezTo>
                <a:lnTo>
                  <a:pt x="121563" y="109081"/>
                </a:lnTo>
                <a:cubicBezTo>
                  <a:pt x="115083" y="112082"/>
                  <a:pt x="107602" y="112082"/>
                  <a:pt x="101122" y="109081"/>
                </a:cubicBezTo>
                <a:lnTo>
                  <a:pt x="6046" y="65153"/>
                </a:lnTo>
                <a:cubicBezTo>
                  <a:pt x="2349" y="63413"/>
                  <a:pt x="0" y="59716"/>
                  <a:pt x="0" y="55671"/>
                </a:cubicBezTo>
                <a:cubicBezTo>
                  <a:pt x="0" y="51626"/>
                  <a:pt x="2349" y="47886"/>
                  <a:pt x="6046" y="46190"/>
                </a:cubicBezTo>
                <a:lnTo>
                  <a:pt x="101122" y="2262"/>
                </a:lnTo>
                <a:close/>
                <a:moveTo>
                  <a:pt x="20920" y="94989"/>
                </a:moveTo>
                <a:lnTo>
                  <a:pt x="92379" y="128000"/>
                </a:lnTo>
                <a:cubicBezTo>
                  <a:pt x="104427" y="133567"/>
                  <a:pt x="118301" y="133567"/>
                  <a:pt x="130349" y="128000"/>
                </a:cubicBezTo>
                <a:lnTo>
                  <a:pt x="201808" y="94989"/>
                </a:lnTo>
                <a:lnTo>
                  <a:pt x="216639" y="101861"/>
                </a:lnTo>
                <a:cubicBezTo>
                  <a:pt x="220336" y="103557"/>
                  <a:pt x="222685" y="107254"/>
                  <a:pt x="222685" y="111342"/>
                </a:cubicBezTo>
                <a:cubicBezTo>
                  <a:pt x="222685" y="115431"/>
                  <a:pt x="220336" y="119128"/>
                  <a:pt x="216639" y="120824"/>
                </a:cubicBezTo>
                <a:lnTo>
                  <a:pt x="121563" y="164752"/>
                </a:lnTo>
                <a:cubicBezTo>
                  <a:pt x="115083" y="167753"/>
                  <a:pt x="107602" y="167753"/>
                  <a:pt x="101122" y="164752"/>
                </a:cubicBezTo>
                <a:lnTo>
                  <a:pt x="6046" y="120824"/>
                </a:lnTo>
                <a:cubicBezTo>
                  <a:pt x="2349" y="119084"/>
                  <a:pt x="0" y="115387"/>
                  <a:pt x="0" y="111342"/>
                </a:cubicBezTo>
                <a:cubicBezTo>
                  <a:pt x="0" y="107298"/>
                  <a:pt x="2349" y="103557"/>
                  <a:pt x="6046" y="101861"/>
                </a:cubicBezTo>
                <a:lnTo>
                  <a:pt x="20877" y="94989"/>
                </a:lnTo>
                <a:close/>
                <a:moveTo>
                  <a:pt x="6046" y="157532"/>
                </a:moveTo>
                <a:lnTo>
                  <a:pt x="20877" y="150660"/>
                </a:lnTo>
                <a:lnTo>
                  <a:pt x="92336" y="183672"/>
                </a:lnTo>
                <a:cubicBezTo>
                  <a:pt x="104384" y="189239"/>
                  <a:pt x="118258" y="189239"/>
                  <a:pt x="130305" y="183672"/>
                </a:cubicBezTo>
                <a:lnTo>
                  <a:pt x="201765" y="150660"/>
                </a:lnTo>
                <a:lnTo>
                  <a:pt x="216596" y="157532"/>
                </a:lnTo>
                <a:cubicBezTo>
                  <a:pt x="220293" y="159228"/>
                  <a:pt x="222641" y="162925"/>
                  <a:pt x="222641" y="167014"/>
                </a:cubicBezTo>
                <a:cubicBezTo>
                  <a:pt x="222641" y="171102"/>
                  <a:pt x="220293" y="174799"/>
                  <a:pt x="216596" y="176495"/>
                </a:cubicBezTo>
                <a:lnTo>
                  <a:pt x="121520" y="220423"/>
                </a:lnTo>
                <a:cubicBezTo>
                  <a:pt x="115039" y="223424"/>
                  <a:pt x="107559" y="223424"/>
                  <a:pt x="101078" y="220423"/>
                </a:cubicBezTo>
                <a:lnTo>
                  <a:pt x="6046" y="176495"/>
                </a:lnTo>
                <a:cubicBezTo>
                  <a:pt x="2349" y="174755"/>
                  <a:pt x="0" y="171059"/>
                  <a:pt x="0" y="167014"/>
                </a:cubicBezTo>
                <a:cubicBezTo>
                  <a:pt x="0" y="162969"/>
                  <a:pt x="2349" y="159228"/>
                  <a:pt x="6046" y="15753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8" name="Text 6"/>
          <p:cNvSpPr/>
          <p:nvPr/>
        </p:nvSpPr>
        <p:spPr>
          <a:xfrm>
            <a:off x="936101" y="2259844"/>
            <a:ext cx="7076432" cy="34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3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Distribution Layer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8055" y="2705214"/>
            <a:ext cx="7229013" cy="791769"/>
          </a:xfrm>
          <a:custGeom>
            <a:avLst/>
            <a:gdLst/>
            <a:ahLst/>
            <a:cxnLst/>
            <a:rect l="l" t="t" r="r" b="b"/>
            <a:pathLst>
              <a:path w="7229013" h="791769">
                <a:moveTo>
                  <a:pt x="0" y="0"/>
                </a:moveTo>
                <a:lnTo>
                  <a:pt x="7229013" y="0"/>
                </a:lnTo>
                <a:lnTo>
                  <a:pt x="7229013" y="791769"/>
                </a:lnTo>
                <a:lnTo>
                  <a:pt x="0" y="791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8055" y="2705214"/>
            <a:ext cx="32990" cy="791769"/>
          </a:xfrm>
          <a:custGeom>
            <a:avLst/>
            <a:gdLst/>
            <a:ahLst/>
            <a:cxnLst/>
            <a:rect l="l" t="t" r="r" b="b"/>
            <a:pathLst>
              <a:path w="32990" h="791769">
                <a:moveTo>
                  <a:pt x="0" y="0"/>
                </a:moveTo>
                <a:lnTo>
                  <a:pt x="32990" y="0"/>
                </a:lnTo>
                <a:lnTo>
                  <a:pt x="32990" y="791769"/>
                </a:lnTo>
                <a:lnTo>
                  <a:pt x="0" y="791769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1" name="Text 9"/>
          <p:cNvSpPr/>
          <p:nvPr/>
        </p:nvSpPr>
        <p:spPr>
          <a:xfrm>
            <a:off x="783521" y="2804185"/>
            <a:ext cx="7113546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Central-1 (Primary)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3521" y="3150583"/>
            <a:ext cx="7101175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1.1.1.1 | Area 0 | Connects HQ, Branch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8055" y="3595953"/>
            <a:ext cx="7229013" cy="791769"/>
          </a:xfrm>
          <a:custGeom>
            <a:avLst/>
            <a:gdLst/>
            <a:ahLst/>
            <a:cxnLst/>
            <a:rect l="l" t="t" r="r" b="b"/>
            <a:pathLst>
              <a:path w="7229013" h="791769">
                <a:moveTo>
                  <a:pt x="0" y="0"/>
                </a:moveTo>
                <a:lnTo>
                  <a:pt x="7229013" y="0"/>
                </a:lnTo>
                <a:lnTo>
                  <a:pt x="7229013" y="791769"/>
                </a:lnTo>
                <a:lnTo>
                  <a:pt x="0" y="791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668055" y="3595953"/>
            <a:ext cx="32990" cy="791769"/>
          </a:xfrm>
          <a:custGeom>
            <a:avLst/>
            <a:gdLst/>
            <a:ahLst/>
            <a:cxnLst/>
            <a:rect l="l" t="t" r="r" b="b"/>
            <a:pathLst>
              <a:path w="32990" h="791769">
                <a:moveTo>
                  <a:pt x="0" y="0"/>
                </a:moveTo>
                <a:lnTo>
                  <a:pt x="32990" y="0"/>
                </a:lnTo>
                <a:lnTo>
                  <a:pt x="32990" y="791769"/>
                </a:lnTo>
                <a:lnTo>
                  <a:pt x="0" y="791769"/>
                </a:lnTo>
                <a:lnTo>
                  <a:pt x="0" y="0"/>
                </a:lnTo>
                <a:close/>
              </a:path>
            </a:pathLst>
          </a:custGeom>
          <a:solidFill>
            <a:srgbClr val="6F7D8C"/>
          </a:solidFill>
          <a:ln/>
        </p:spPr>
      </p:sp>
      <p:sp>
        <p:nvSpPr>
          <p:cNvPr id="15" name="Text 13"/>
          <p:cNvSpPr/>
          <p:nvPr/>
        </p:nvSpPr>
        <p:spPr>
          <a:xfrm>
            <a:off x="783521" y="3694924"/>
            <a:ext cx="7113546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Central-2 (ABR)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3521" y="4041323"/>
            <a:ext cx="7101175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RID: 2.2.2.2 | Connects Areas 0,1,2,3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5683" y="4490817"/>
            <a:ext cx="7233136" cy="453617"/>
          </a:xfrm>
          <a:custGeom>
            <a:avLst/>
            <a:gdLst/>
            <a:ahLst/>
            <a:cxnLst/>
            <a:rect l="l" t="t" r="r" b="b"/>
            <a:pathLst>
              <a:path w="7233136" h="453617">
                <a:moveTo>
                  <a:pt x="0" y="0"/>
                </a:moveTo>
                <a:lnTo>
                  <a:pt x="7233136" y="0"/>
                </a:lnTo>
                <a:lnTo>
                  <a:pt x="7233136" y="453617"/>
                </a:lnTo>
                <a:lnTo>
                  <a:pt x="0" y="453617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778" y="4593904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Port-channel LACP:</a:t>
            </a:r>
            <a:r>
              <a:rPr lang="en-US" sz="136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10.255.255.0/30 between Central-1 and Central-2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8979" y="5257843"/>
            <a:ext cx="7554792" cy="3274293"/>
          </a:xfrm>
          <a:custGeom>
            <a:avLst/>
            <a:gdLst/>
            <a:ahLst/>
            <a:cxnLst/>
            <a:rect l="l" t="t" r="r" b="b"/>
            <a:pathLst>
              <a:path w="7554792" h="3274293">
                <a:moveTo>
                  <a:pt x="0" y="0"/>
                </a:moveTo>
                <a:lnTo>
                  <a:pt x="7554792" y="0"/>
                </a:lnTo>
                <a:lnTo>
                  <a:pt x="7554792" y="3274293"/>
                </a:lnTo>
                <a:lnTo>
                  <a:pt x="0" y="3274293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2488" y="5472272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11342" y="0"/>
                </a:moveTo>
                <a:cubicBezTo>
                  <a:pt x="113343" y="0"/>
                  <a:pt x="115344" y="435"/>
                  <a:pt x="117171" y="1261"/>
                </a:cubicBezTo>
                <a:lnTo>
                  <a:pt x="199112" y="36012"/>
                </a:lnTo>
                <a:cubicBezTo>
                  <a:pt x="208680" y="40057"/>
                  <a:pt x="215813" y="49495"/>
                  <a:pt x="215770" y="60890"/>
                </a:cubicBezTo>
                <a:cubicBezTo>
                  <a:pt x="215552" y="104036"/>
                  <a:pt x="197807" y="182976"/>
                  <a:pt x="122868" y="218858"/>
                </a:cubicBezTo>
                <a:cubicBezTo>
                  <a:pt x="115605" y="222337"/>
                  <a:pt x="107167" y="222337"/>
                  <a:pt x="99904" y="218858"/>
                </a:cubicBezTo>
                <a:cubicBezTo>
                  <a:pt x="24922" y="182976"/>
                  <a:pt x="7220" y="104036"/>
                  <a:pt x="7002" y="60890"/>
                </a:cubicBezTo>
                <a:cubicBezTo>
                  <a:pt x="6959" y="49495"/>
                  <a:pt x="14092" y="40057"/>
                  <a:pt x="23660" y="36012"/>
                </a:cubicBezTo>
                <a:lnTo>
                  <a:pt x="105558" y="1261"/>
                </a:lnTo>
                <a:cubicBezTo>
                  <a:pt x="107385" y="435"/>
                  <a:pt x="109342" y="0"/>
                  <a:pt x="111342" y="0"/>
                </a:cubicBezTo>
                <a:close/>
                <a:moveTo>
                  <a:pt x="111342" y="29053"/>
                </a:moveTo>
                <a:lnTo>
                  <a:pt x="111342" y="193501"/>
                </a:lnTo>
                <a:cubicBezTo>
                  <a:pt x="171363" y="164448"/>
                  <a:pt x="187499" y="100078"/>
                  <a:pt x="187890" y="61543"/>
                </a:cubicBezTo>
                <a:lnTo>
                  <a:pt x="111342" y="29097"/>
                </a:lnTo>
                <a:lnTo>
                  <a:pt x="111342" y="29097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1" name="Text 19"/>
          <p:cNvSpPr/>
          <p:nvPr/>
        </p:nvSpPr>
        <p:spPr>
          <a:xfrm>
            <a:off x="936101" y="5410415"/>
            <a:ext cx="7076432" cy="34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3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Firewall Security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5683" y="5859909"/>
            <a:ext cx="7233136" cy="800016"/>
          </a:xfrm>
          <a:custGeom>
            <a:avLst/>
            <a:gdLst/>
            <a:ahLst/>
            <a:cxnLst/>
            <a:rect l="l" t="t" r="r" b="b"/>
            <a:pathLst>
              <a:path w="7233136" h="800016">
                <a:moveTo>
                  <a:pt x="0" y="0"/>
                </a:moveTo>
                <a:lnTo>
                  <a:pt x="7233136" y="0"/>
                </a:lnTo>
                <a:lnTo>
                  <a:pt x="7233136" y="800016"/>
                </a:lnTo>
                <a:lnTo>
                  <a:pt x="0" y="8000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778" y="5963008"/>
            <a:ext cx="7125918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FIREWALL-1 (Primary ASA)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8778" y="6309406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Outside1:</a:t>
            </a: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203.0.113.6/30 (PTCL) | </a:t>
            </a:r>
            <a:r>
              <a:rPr lang="en-US" sz="136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DMZ:</a:t>
            </a: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172.16.1.1/30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5683" y="6767152"/>
            <a:ext cx="7233136" cy="800016"/>
          </a:xfrm>
          <a:custGeom>
            <a:avLst/>
            <a:gdLst/>
            <a:ahLst/>
            <a:cxnLst/>
            <a:rect l="l" t="t" r="r" b="b"/>
            <a:pathLst>
              <a:path w="7233136" h="800016">
                <a:moveTo>
                  <a:pt x="0" y="0"/>
                </a:moveTo>
                <a:lnTo>
                  <a:pt x="7233136" y="0"/>
                </a:lnTo>
                <a:lnTo>
                  <a:pt x="7233136" y="800016"/>
                </a:lnTo>
                <a:lnTo>
                  <a:pt x="0" y="8000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778" y="6870238"/>
            <a:ext cx="7125918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FIREWALL-2 (Secondary)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8778" y="7216637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Outside2:</a:t>
            </a: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203.0.114.2/30 (Nayatel) | </a:t>
            </a:r>
            <a:r>
              <a:rPr lang="en-US" sz="136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DMZ:</a:t>
            </a: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172.16.1.5/30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5683" y="7674383"/>
            <a:ext cx="7233136" cy="701045"/>
          </a:xfrm>
          <a:custGeom>
            <a:avLst/>
            <a:gdLst/>
            <a:ahLst/>
            <a:cxnLst/>
            <a:rect l="l" t="t" r="r" b="b"/>
            <a:pathLst>
              <a:path w="7233136" h="701045">
                <a:moveTo>
                  <a:pt x="0" y="0"/>
                </a:moveTo>
                <a:lnTo>
                  <a:pt x="7233136" y="0"/>
                </a:lnTo>
                <a:lnTo>
                  <a:pt x="7233136" y="701045"/>
                </a:lnTo>
                <a:lnTo>
                  <a:pt x="0" y="701045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778" y="7777481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Zones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8778" y="8074395"/>
            <a:ext cx="7101175" cy="19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Inside (100) → DMZ (50) → Outside (0)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04935" y="2107259"/>
            <a:ext cx="7554792" cy="3311407"/>
          </a:xfrm>
          <a:custGeom>
            <a:avLst/>
            <a:gdLst/>
            <a:ahLst/>
            <a:cxnLst/>
            <a:rect l="l" t="t" r="r" b="b"/>
            <a:pathLst>
              <a:path w="7554792" h="3311407">
                <a:moveTo>
                  <a:pt x="0" y="0"/>
                </a:moveTo>
                <a:lnTo>
                  <a:pt x="7554792" y="0"/>
                </a:lnTo>
                <a:lnTo>
                  <a:pt x="7554792" y="3311407"/>
                </a:lnTo>
                <a:lnTo>
                  <a:pt x="0" y="3311407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8444" y="2321701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53052" y="121781"/>
                </a:moveTo>
                <a:lnTo>
                  <a:pt x="70024" y="121781"/>
                </a:lnTo>
                <a:cubicBezTo>
                  <a:pt x="71285" y="149834"/>
                  <a:pt x="77505" y="175669"/>
                  <a:pt x="86334" y="194588"/>
                </a:cubicBezTo>
                <a:cubicBezTo>
                  <a:pt x="91292" y="205244"/>
                  <a:pt x="96642" y="212768"/>
                  <a:pt x="101600" y="217379"/>
                </a:cubicBezTo>
                <a:cubicBezTo>
                  <a:pt x="106471" y="221946"/>
                  <a:pt x="109820" y="222685"/>
                  <a:pt x="111560" y="222685"/>
                </a:cubicBezTo>
                <a:cubicBezTo>
                  <a:pt x="113300" y="222685"/>
                  <a:pt x="116649" y="221946"/>
                  <a:pt x="121520" y="217379"/>
                </a:cubicBezTo>
                <a:cubicBezTo>
                  <a:pt x="126478" y="212768"/>
                  <a:pt x="131828" y="205201"/>
                  <a:pt x="136786" y="194588"/>
                </a:cubicBezTo>
                <a:cubicBezTo>
                  <a:pt x="145615" y="175669"/>
                  <a:pt x="151835" y="149834"/>
                  <a:pt x="153096" y="121781"/>
                </a:cubicBezTo>
                <a:close/>
                <a:moveTo>
                  <a:pt x="69980" y="100904"/>
                </a:moveTo>
                <a:lnTo>
                  <a:pt x="153009" y="100904"/>
                </a:lnTo>
                <a:cubicBezTo>
                  <a:pt x="151791" y="72851"/>
                  <a:pt x="145572" y="47016"/>
                  <a:pt x="136742" y="28097"/>
                </a:cubicBezTo>
                <a:cubicBezTo>
                  <a:pt x="131784" y="17484"/>
                  <a:pt x="126435" y="9916"/>
                  <a:pt x="121476" y="5306"/>
                </a:cubicBezTo>
                <a:cubicBezTo>
                  <a:pt x="116605" y="739"/>
                  <a:pt x="113256" y="0"/>
                  <a:pt x="111516" y="0"/>
                </a:cubicBezTo>
                <a:cubicBezTo>
                  <a:pt x="109777" y="0"/>
                  <a:pt x="106428" y="739"/>
                  <a:pt x="101557" y="5306"/>
                </a:cubicBezTo>
                <a:cubicBezTo>
                  <a:pt x="96598" y="9916"/>
                  <a:pt x="91249" y="17484"/>
                  <a:pt x="86290" y="28097"/>
                </a:cubicBezTo>
                <a:cubicBezTo>
                  <a:pt x="77461" y="47016"/>
                  <a:pt x="71242" y="72851"/>
                  <a:pt x="69980" y="100904"/>
                </a:cubicBezTo>
                <a:close/>
                <a:moveTo>
                  <a:pt x="49104" y="100904"/>
                </a:moveTo>
                <a:cubicBezTo>
                  <a:pt x="50626" y="63674"/>
                  <a:pt x="60238" y="29097"/>
                  <a:pt x="74286" y="6393"/>
                </a:cubicBezTo>
                <a:cubicBezTo>
                  <a:pt x="34229" y="20572"/>
                  <a:pt x="4741" y="57063"/>
                  <a:pt x="652" y="100904"/>
                </a:cubicBezTo>
                <a:lnTo>
                  <a:pt x="49104" y="100904"/>
                </a:lnTo>
                <a:close/>
                <a:moveTo>
                  <a:pt x="652" y="121781"/>
                </a:moveTo>
                <a:cubicBezTo>
                  <a:pt x="4741" y="165622"/>
                  <a:pt x="34229" y="202113"/>
                  <a:pt x="74286" y="216291"/>
                </a:cubicBezTo>
                <a:cubicBezTo>
                  <a:pt x="60238" y="193588"/>
                  <a:pt x="50626" y="159011"/>
                  <a:pt x="49104" y="121781"/>
                </a:cubicBezTo>
                <a:lnTo>
                  <a:pt x="652" y="121781"/>
                </a:lnTo>
                <a:close/>
                <a:moveTo>
                  <a:pt x="173929" y="121781"/>
                </a:moveTo>
                <a:cubicBezTo>
                  <a:pt x="172407" y="159011"/>
                  <a:pt x="162795" y="193588"/>
                  <a:pt x="148747" y="216291"/>
                </a:cubicBezTo>
                <a:cubicBezTo>
                  <a:pt x="188804" y="202069"/>
                  <a:pt x="218292" y="165622"/>
                  <a:pt x="222380" y="121781"/>
                </a:cubicBezTo>
                <a:lnTo>
                  <a:pt x="173929" y="121781"/>
                </a:lnTo>
                <a:close/>
                <a:moveTo>
                  <a:pt x="222380" y="100904"/>
                </a:moveTo>
                <a:cubicBezTo>
                  <a:pt x="218292" y="57063"/>
                  <a:pt x="188804" y="20572"/>
                  <a:pt x="148747" y="6393"/>
                </a:cubicBezTo>
                <a:cubicBezTo>
                  <a:pt x="162795" y="29097"/>
                  <a:pt x="172407" y="63674"/>
                  <a:pt x="173929" y="100904"/>
                </a:cubicBezTo>
                <a:lnTo>
                  <a:pt x="222380" y="100904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3" name="Text 31"/>
          <p:cNvSpPr/>
          <p:nvPr/>
        </p:nvSpPr>
        <p:spPr>
          <a:xfrm>
            <a:off x="8642057" y="2259844"/>
            <a:ext cx="7076432" cy="34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3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DMZ &amp; Public Services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61639" y="2709337"/>
            <a:ext cx="7233136" cy="1344357"/>
          </a:xfrm>
          <a:custGeom>
            <a:avLst/>
            <a:gdLst/>
            <a:ahLst/>
            <a:cxnLst/>
            <a:rect l="l" t="t" r="r" b="b"/>
            <a:pathLst>
              <a:path w="7233136" h="1344357">
                <a:moveTo>
                  <a:pt x="0" y="0"/>
                </a:moveTo>
                <a:lnTo>
                  <a:pt x="7233136" y="0"/>
                </a:lnTo>
                <a:lnTo>
                  <a:pt x="7233136" y="1344357"/>
                </a:lnTo>
                <a:lnTo>
                  <a:pt x="0" y="134435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4734" y="2812424"/>
            <a:ext cx="7125918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DMZ Switch &amp; Servers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64734" y="3158823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 10: 172.16.0.0/24 | Gateway: 172.16.0.254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81229" y="3505222"/>
            <a:ext cx="32990" cy="197942"/>
          </a:xfrm>
          <a:custGeom>
            <a:avLst/>
            <a:gdLst/>
            <a:ahLst/>
            <a:cxnLst/>
            <a:rect l="l" t="t" r="r" b="b"/>
            <a:pathLst>
              <a:path w="32990" h="197942">
                <a:moveTo>
                  <a:pt x="0" y="0"/>
                </a:moveTo>
                <a:lnTo>
                  <a:pt x="32990" y="0"/>
                </a:lnTo>
                <a:lnTo>
                  <a:pt x="32990" y="197942"/>
                </a:lnTo>
                <a:lnTo>
                  <a:pt x="0" y="19794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Text 36"/>
          <p:cNvSpPr/>
          <p:nvPr/>
        </p:nvSpPr>
        <p:spPr>
          <a:xfrm>
            <a:off x="8464734" y="3505222"/>
            <a:ext cx="3525845" cy="197942"/>
          </a:xfrm>
          <a:prstGeom prst="rect">
            <a:avLst/>
          </a:prstGeom>
          <a:noFill/>
          <a:ln/>
        </p:spPr>
        <p:txBody>
          <a:bodyPr wrap="square" lIns="49486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Web: 172.16.0.10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020734" y="3505222"/>
            <a:ext cx="32990" cy="197942"/>
          </a:xfrm>
          <a:custGeom>
            <a:avLst/>
            <a:gdLst/>
            <a:ahLst/>
            <a:cxnLst/>
            <a:rect l="l" t="t" r="r" b="b"/>
            <a:pathLst>
              <a:path w="32990" h="197942">
                <a:moveTo>
                  <a:pt x="0" y="0"/>
                </a:moveTo>
                <a:lnTo>
                  <a:pt x="32990" y="0"/>
                </a:lnTo>
                <a:lnTo>
                  <a:pt x="32990" y="197942"/>
                </a:lnTo>
                <a:lnTo>
                  <a:pt x="0" y="197942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0" name="Text 38"/>
          <p:cNvSpPr/>
          <p:nvPr/>
        </p:nvSpPr>
        <p:spPr>
          <a:xfrm>
            <a:off x="12004239" y="3505222"/>
            <a:ext cx="3525845" cy="197942"/>
          </a:xfrm>
          <a:prstGeom prst="rect">
            <a:avLst/>
          </a:prstGeom>
          <a:noFill/>
          <a:ln/>
        </p:spPr>
        <p:txBody>
          <a:bodyPr wrap="square" lIns="49486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Mail: 172.16.0.11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81229" y="3752649"/>
            <a:ext cx="32990" cy="197942"/>
          </a:xfrm>
          <a:custGeom>
            <a:avLst/>
            <a:gdLst/>
            <a:ahLst/>
            <a:cxnLst/>
            <a:rect l="l" t="t" r="r" b="b"/>
            <a:pathLst>
              <a:path w="32990" h="197942">
                <a:moveTo>
                  <a:pt x="0" y="0"/>
                </a:moveTo>
                <a:lnTo>
                  <a:pt x="32990" y="0"/>
                </a:lnTo>
                <a:lnTo>
                  <a:pt x="32990" y="197942"/>
                </a:lnTo>
                <a:lnTo>
                  <a:pt x="0" y="19794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8464734" y="3752649"/>
            <a:ext cx="3525845" cy="197942"/>
          </a:xfrm>
          <a:prstGeom prst="rect">
            <a:avLst/>
          </a:prstGeom>
          <a:noFill/>
          <a:ln/>
        </p:spPr>
        <p:txBody>
          <a:bodyPr wrap="square" lIns="49486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DNS: 172.16.0.12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020734" y="3752649"/>
            <a:ext cx="32990" cy="197942"/>
          </a:xfrm>
          <a:custGeom>
            <a:avLst/>
            <a:gdLst/>
            <a:ahLst/>
            <a:cxnLst/>
            <a:rect l="l" t="t" r="r" b="b"/>
            <a:pathLst>
              <a:path w="32990" h="197942">
                <a:moveTo>
                  <a:pt x="0" y="0"/>
                </a:moveTo>
                <a:lnTo>
                  <a:pt x="32990" y="0"/>
                </a:lnTo>
                <a:lnTo>
                  <a:pt x="32990" y="197942"/>
                </a:lnTo>
                <a:lnTo>
                  <a:pt x="0" y="197942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4" name="Text 42"/>
          <p:cNvSpPr/>
          <p:nvPr/>
        </p:nvSpPr>
        <p:spPr>
          <a:xfrm>
            <a:off x="12004239" y="3752649"/>
            <a:ext cx="3525845" cy="197942"/>
          </a:xfrm>
          <a:prstGeom prst="rect">
            <a:avLst/>
          </a:prstGeom>
          <a:noFill/>
          <a:ln/>
        </p:spPr>
        <p:txBody>
          <a:bodyPr wrap="square" lIns="49486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FTP: 172.16.0.13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61639" y="4160909"/>
            <a:ext cx="7233136" cy="1096929"/>
          </a:xfrm>
          <a:custGeom>
            <a:avLst/>
            <a:gdLst/>
            <a:ahLst/>
            <a:cxnLst/>
            <a:rect l="l" t="t" r="r" b="b"/>
            <a:pathLst>
              <a:path w="7233136" h="1096929">
                <a:moveTo>
                  <a:pt x="0" y="0"/>
                </a:moveTo>
                <a:lnTo>
                  <a:pt x="7233136" y="0"/>
                </a:lnTo>
                <a:lnTo>
                  <a:pt x="7233136" y="1096929"/>
                </a:lnTo>
                <a:lnTo>
                  <a:pt x="0" y="109692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14219" y="4445951"/>
            <a:ext cx="7125918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 Configuration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64734" y="4610407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64734" y="4907320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04935" y="5571247"/>
            <a:ext cx="7554792" cy="1851584"/>
          </a:xfrm>
          <a:custGeom>
            <a:avLst/>
            <a:gdLst/>
            <a:ahLst/>
            <a:cxnLst/>
            <a:rect l="l" t="t" r="r" b="b"/>
            <a:pathLst>
              <a:path w="7554792" h="1851584">
                <a:moveTo>
                  <a:pt x="0" y="0"/>
                </a:moveTo>
                <a:lnTo>
                  <a:pt x="7554792" y="0"/>
                </a:lnTo>
                <a:lnTo>
                  <a:pt x="7554792" y="1851584"/>
                </a:lnTo>
                <a:lnTo>
                  <a:pt x="0" y="1851584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16280" y="5785688"/>
            <a:ext cx="167014" cy="222685"/>
          </a:xfrm>
          <a:custGeom>
            <a:avLst/>
            <a:gdLst/>
            <a:ahLst/>
            <a:cxnLst/>
            <a:rect l="l" t="t" r="r" b="b"/>
            <a:pathLst>
              <a:path w="167014" h="222685">
                <a:moveTo>
                  <a:pt x="55671" y="41753"/>
                </a:moveTo>
                <a:lnTo>
                  <a:pt x="55671" y="69589"/>
                </a:lnTo>
                <a:lnTo>
                  <a:pt x="111342" y="69589"/>
                </a:lnTo>
                <a:lnTo>
                  <a:pt x="111342" y="41753"/>
                </a:lnTo>
                <a:cubicBezTo>
                  <a:pt x="111342" y="26400"/>
                  <a:pt x="98860" y="13918"/>
                  <a:pt x="83507" y="13918"/>
                </a:cubicBezTo>
                <a:cubicBezTo>
                  <a:pt x="68154" y="13918"/>
                  <a:pt x="55671" y="26400"/>
                  <a:pt x="55671" y="41753"/>
                </a:cubicBezTo>
                <a:close/>
                <a:moveTo>
                  <a:pt x="27836" y="69589"/>
                </a:moveTo>
                <a:lnTo>
                  <a:pt x="27836" y="41753"/>
                </a:lnTo>
                <a:cubicBezTo>
                  <a:pt x="27836" y="11004"/>
                  <a:pt x="52757" y="-13918"/>
                  <a:pt x="83507" y="-13918"/>
                </a:cubicBezTo>
                <a:cubicBezTo>
                  <a:pt x="114257" y="-13918"/>
                  <a:pt x="139178" y="11004"/>
                  <a:pt x="139178" y="41753"/>
                </a:cubicBezTo>
                <a:lnTo>
                  <a:pt x="139178" y="69589"/>
                </a:lnTo>
                <a:cubicBezTo>
                  <a:pt x="154531" y="69589"/>
                  <a:pt x="167014" y="82072"/>
                  <a:pt x="167014" y="97425"/>
                </a:cubicBezTo>
                <a:lnTo>
                  <a:pt x="167014" y="194849"/>
                </a:lnTo>
                <a:cubicBezTo>
                  <a:pt x="167014" y="210202"/>
                  <a:pt x="154531" y="222685"/>
                  <a:pt x="139178" y="222685"/>
                </a:cubicBezTo>
                <a:lnTo>
                  <a:pt x="27836" y="222685"/>
                </a:lnTo>
                <a:cubicBezTo>
                  <a:pt x="12483" y="222685"/>
                  <a:pt x="0" y="210202"/>
                  <a:pt x="0" y="194849"/>
                </a:cubicBezTo>
                <a:lnTo>
                  <a:pt x="0" y="97425"/>
                </a:lnTo>
                <a:cubicBezTo>
                  <a:pt x="0" y="82072"/>
                  <a:pt x="12483" y="69589"/>
                  <a:pt x="27836" y="6958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1" name="Text 49"/>
          <p:cNvSpPr/>
          <p:nvPr/>
        </p:nvSpPr>
        <p:spPr>
          <a:xfrm>
            <a:off x="8642057" y="5723832"/>
            <a:ext cx="7076432" cy="34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3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VPN Connectivity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61639" y="6173325"/>
            <a:ext cx="7233136" cy="1096929"/>
          </a:xfrm>
          <a:custGeom>
            <a:avLst/>
            <a:gdLst/>
            <a:ahLst/>
            <a:cxnLst/>
            <a:rect l="l" t="t" r="r" b="b"/>
            <a:pathLst>
              <a:path w="7233136" h="1096929">
                <a:moveTo>
                  <a:pt x="0" y="0"/>
                </a:moveTo>
                <a:lnTo>
                  <a:pt x="7233136" y="0"/>
                </a:lnTo>
                <a:lnTo>
                  <a:pt x="7233136" y="1096929"/>
                </a:lnTo>
                <a:lnTo>
                  <a:pt x="0" y="1096929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8467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64734" y="6276412"/>
            <a:ext cx="7125918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IPSec Site-to-Site VPN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64734" y="6622811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Encryption:</a:t>
            </a: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AES 256-bit | </a:t>
            </a:r>
            <a:r>
              <a:rPr lang="en-US" sz="136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Auth:</a:t>
            </a: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Pre-shared key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64734" y="6919724"/>
            <a:ext cx="7113546" cy="24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 Group:</a:t>
            </a: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Group 5 | </a:t>
            </a:r>
            <a:r>
              <a:rPr lang="en-US" sz="136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Tunnel:</a:t>
            </a:r>
            <a:r>
              <a:rPr lang="en-US" sz="136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EDGE-1 ↔ EDGE-2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98979" y="8639351"/>
            <a:ext cx="15249794" cy="503103"/>
          </a:xfrm>
          <a:custGeom>
            <a:avLst/>
            <a:gdLst/>
            <a:ahLst/>
            <a:cxnLst/>
            <a:rect l="l" t="t" r="r" b="b"/>
            <a:pathLst>
              <a:path w="15249794" h="503103">
                <a:moveTo>
                  <a:pt x="0" y="0"/>
                </a:moveTo>
                <a:lnTo>
                  <a:pt x="15249794" y="0"/>
                </a:lnTo>
                <a:lnTo>
                  <a:pt x="15249794" y="503103"/>
                </a:lnTo>
                <a:lnTo>
                  <a:pt x="0" y="503103"/>
                </a:lnTo>
                <a:lnTo>
                  <a:pt x="0" y="0"/>
                </a:lnTo>
                <a:close/>
              </a:path>
            </a:pathLst>
          </a:custGeom>
          <a:solidFill>
            <a:srgbClr val="A9B4C2">
              <a:alpha val="10196"/>
            </a:srgbClr>
          </a:solidFill>
          <a:ln w="8467">
            <a:solidFill>
              <a:srgbClr val="A9B4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2589" y="8742449"/>
            <a:ext cx="15142575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9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 Sites:</a:t>
            </a:r>
            <a:r>
              <a:rPr lang="en-US" sz="155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HQ (Area 0) | Branch 2 (Area 1) | Emergency (Area 2) | Branch 4 (Area 3) | Branch 1 (Area 0)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0039" y="440039"/>
            <a:ext cx="1621963" cy="367306"/>
          </a:xfrm>
          <a:custGeom>
            <a:avLst/>
            <a:gdLst/>
            <a:ahLst/>
            <a:cxnLst/>
            <a:rect l="l" t="t" r="r" b="b"/>
            <a:pathLst>
              <a:path w="1621963" h="367306">
                <a:moveTo>
                  <a:pt x="0" y="0"/>
                </a:moveTo>
                <a:lnTo>
                  <a:pt x="1621963" y="0"/>
                </a:lnTo>
                <a:lnTo>
                  <a:pt x="1621963" y="367306"/>
                </a:lnTo>
                <a:lnTo>
                  <a:pt x="0" y="36730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4597" y="494586"/>
            <a:ext cx="1438992" cy="25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kern="0" spc="69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PESI NETWORK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6403" y="894626"/>
            <a:ext cx="15579576" cy="43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9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Network Topology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6403" y="1418309"/>
            <a:ext cx="15481385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Enterprise-wide infrastructure interconnecting all sites through central distribution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039" y="1858348"/>
            <a:ext cx="9139000" cy="7502489"/>
          </a:xfrm>
          <a:custGeom>
            <a:avLst/>
            <a:gdLst/>
            <a:ahLst/>
            <a:cxnLst/>
            <a:rect l="l" t="t" r="r" b="b"/>
            <a:pathLst>
              <a:path w="9139000" h="7502489">
                <a:moveTo>
                  <a:pt x="0" y="0"/>
                </a:moveTo>
                <a:lnTo>
                  <a:pt x="9139000" y="0"/>
                </a:lnTo>
                <a:lnTo>
                  <a:pt x="9139000" y="7502489"/>
                </a:lnTo>
                <a:lnTo>
                  <a:pt x="0" y="7502489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872" y="2047459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0" y="30685"/>
                </a:moveTo>
                <a:cubicBezTo>
                  <a:pt x="0" y="20520"/>
                  <a:pt x="8246" y="12274"/>
                  <a:pt x="18411" y="12274"/>
                </a:cubicBezTo>
                <a:lnTo>
                  <a:pt x="55232" y="12274"/>
                </a:lnTo>
                <a:cubicBezTo>
                  <a:pt x="65396" y="12274"/>
                  <a:pt x="73643" y="20520"/>
                  <a:pt x="73643" y="30685"/>
                </a:cubicBezTo>
                <a:lnTo>
                  <a:pt x="73643" y="36821"/>
                </a:lnTo>
                <a:lnTo>
                  <a:pt x="122738" y="36821"/>
                </a:lnTo>
                <a:lnTo>
                  <a:pt x="122738" y="30685"/>
                </a:lnTo>
                <a:cubicBezTo>
                  <a:pt x="122738" y="20520"/>
                  <a:pt x="130985" y="12274"/>
                  <a:pt x="141149" y="12274"/>
                </a:cubicBezTo>
                <a:lnTo>
                  <a:pt x="177970" y="12274"/>
                </a:lnTo>
                <a:cubicBezTo>
                  <a:pt x="188135" y="12274"/>
                  <a:pt x="196381" y="20520"/>
                  <a:pt x="196381" y="30685"/>
                </a:cubicBezTo>
                <a:lnTo>
                  <a:pt x="196381" y="67506"/>
                </a:lnTo>
                <a:cubicBezTo>
                  <a:pt x="196381" y="77670"/>
                  <a:pt x="188135" y="85917"/>
                  <a:pt x="177970" y="85917"/>
                </a:cubicBezTo>
                <a:lnTo>
                  <a:pt x="141149" y="85917"/>
                </a:lnTo>
                <a:cubicBezTo>
                  <a:pt x="130985" y="85917"/>
                  <a:pt x="122738" y="77670"/>
                  <a:pt x="122738" y="67506"/>
                </a:cubicBezTo>
                <a:lnTo>
                  <a:pt x="122738" y="61369"/>
                </a:lnTo>
                <a:lnTo>
                  <a:pt x="73643" y="61369"/>
                </a:lnTo>
                <a:lnTo>
                  <a:pt x="73643" y="67506"/>
                </a:lnTo>
                <a:cubicBezTo>
                  <a:pt x="73643" y="70306"/>
                  <a:pt x="72991" y="72991"/>
                  <a:pt x="71879" y="75369"/>
                </a:cubicBezTo>
                <a:lnTo>
                  <a:pt x="98191" y="110464"/>
                </a:lnTo>
                <a:lnTo>
                  <a:pt x="128875" y="110464"/>
                </a:lnTo>
                <a:cubicBezTo>
                  <a:pt x="139039" y="110464"/>
                  <a:pt x="147286" y="118711"/>
                  <a:pt x="147286" y="128875"/>
                </a:cubicBezTo>
                <a:lnTo>
                  <a:pt x="147286" y="165697"/>
                </a:lnTo>
                <a:cubicBezTo>
                  <a:pt x="147286" y="175861"/>
                  <a:pt x="139039" y="184107"/>
                  <a:pt x="128875" y="184107"/>
                </a:cubicBezTo>
                <a:lnTo>
                  <a:pt x="92054" y="184107"/>
                </a:lnTo>
                <a:cubicBezTo>
                  <a:pt x="81889" y="184107"/>
                  <a:pt x="73643" y="175861"/>
                  <a:pt x="73643" y="165697"/>
                </a:cubicBezTo>
                <a:lnTo>
                  <a:pt x="73643" y="128875"/>
                </a:lnTo>
                <a:cubicBezTo>
                  <a:pt x="73643" y="126075"/>
                  <a:pt x="74295" y="123390"/>
                  <a:pt x="75407" y="121012"/>
                </a:cubicBezTo>
                <a:lnTo>
                  <a:pt x="49095" y="85917"/>
                </a:lnTo>
                <a:lnTo>
                  <a:pt x="18411" y="85917"/>
                </a:lnTo>
                <a:cubicBezTo>
                  <a:pt x="8246" y="85917"/>
                  <a:pt x="0" y="77670"/>
                  <a:pt x="0" y="67506"/>
                </a:cubicBezTo>
                <a:lnTo>
                  <a:pt x="0" y="3068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825528" y="1992909"/>
            <a:ext cx="8717144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OSPF Multi-Area Architecture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720870" y="1858348"/>
            <a:ext cx="6095091" cy="2527499"/>
          </a:xfrm>
          <a:custGeom>
            <a:avLst/>
            <a:gdLst/>
            <a:ahLst/>
            <a:cxnLst/>
            <a:rect l="l" t="t" r="r" b="b"/>
            <a:pathLst>
              <a:path w="6095091" h="2527499">
                <a:moveTo>
                  <a:pt x="0" y="0"/>
                </a:moveTo>
                <a:lnTo>
                  <a:pt x="6095091" y="0"/>
                </a:lnTo>
                <a:lnTo>
                  <a:pt x="6095091" y="2527499"/>
                </a:lnTo>
                <a:lnTo>
                  <a:pt x="0" y="2527499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94977" y="2047459"/>
            <a:ext cx="171834" cy="196381"/>
          </a:xfrm>
          <a:custGeom>
            <a:avLst/>
            <a:gdLst/>
            <a:ahLst/>
            <a:cxnLst/>
            <a:rect l="l" t="t" r="r" b="b"/>
            <a:pathLst>
              <a:path w="171834" h="196381">
                <a:moveTo>
                  <a:pt x="98191" y="61369"/>
                </a:moveTo>
                <a:lnTo>
                  <a:pt x="98191" y="98191"/>
                </a:lnTo>
                <a:lnTo>
                  <a:pt x="147286" y="98191"/>
                </a:lnTo>
                <a:lnTo>
                  <a:pt x="147286" y="61369"/>
                </a:lnTo>
                <a:lnTo>
                  <a:pt x="98191" y="61369"/>
                </a:lnTo>
                <a:close/>
                <a:moveTo>
                  <a:pt x="73643" y="61369"/>
                </a:moveTo>
                <a:lnTo>
                  <a:pt x="24548" y="61369"/>
                </a:lnTo>
                <a:lnTo>
                  <a:pt x="24548" y="98191"/>
                </a:lnTo>
                <a:lnTo>
                  <a:pt x="73643" y="98191"/>
                </a:lnTo>
                <a:lnTo>
                  <a:pt x="73643" y="61369"/>
                </a:lnTo>
                <a:close/>
                <a:moveTo>
                  <a:pt x="0" y="122738"/>
                </a:moveTo>
                <a:lnTo>
                  <a:pt x="0" y="36821"/>
                </a:lnTo>
                <a:cubicBezTo>
                  <a:pt x="0" y="23282"/>
                  <a:pt x="11008" y="12274"/>
                  <a:pt x="24548" y="12274"/>
                </a:cubicBezTo>
                <a:lnTo>
                  <a:pt x="147286" y="12274"/>
                </a:lnTo>
                <a:cubicBezTo>
                  <a:pt x="160825" y="12274"/>
                  <a:pt x="171834" y="23282"/>
                  <a:pt x="171834" y="36821"/>
                </a:cubicBezTo>
                <a:lnTo>
                  <a:pt x="171834" y="159560"/>
                </a:lnTo>
                <a:cubicBezTo>
                  <a:pt x="171834" y="173099"/>
                  <a:pt x="160825" y="184107"/>
                  <a:pt x="147286" y="184107"/>
                </a:cubicBezTo>
                <a:lnTo>
                  <a:pt x="24548" y="184107"/>
                </a:lnTo>
                <a:cubicBezTo>
                  <a:pt x="11008" y="184107"/>
                  <a:pt x="0" y="173099"/>
                  <a:pt x="0" y="159560"/>
                </a:cubicBezTo>
                <a:lnTo>
                  <a:pt x="0" y="122738"/>
                </a:lnTo>
                <a:close/>
                <a:moveTo>
                  <a:pt x="147286" y="122738"/>
                </a:moveTo>
                <a:lnTo>
                  <a:pt x="98191" y="122738"/>
                </a:lnTo>
                <a:lnTo>
                  <a:pt x="98191" y="159560"/>
                </a:lnTo>
                <a:lnTo>
                  <a:pt x="147286" y="159560"/>
                </a:lnTo>
                <a:lnTo>
                  <a:pt x="147286" y="122738"/>
                </a:lnTo>
                <a:close/>
                <a:moveTo>
                  <a:pt x="73643" y="159560"/>
                </a:moveTo>
                <a:lnTo>
                  <a:pt x="73643" y="122738"/>
                </a:lnTo>
                <a:lnTo>
                  <a:pt x="24548" y="122738"/>
                </a:lnTo>
                <a:lnTo>
                  <a:pt x="24548" y="159560"/>
                </a:lnTo>
                <a:lnTo>
                  <a:pt x="73643" y="15956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9"/>
          <p:cNvSpPr/>
          <p:nvPr/>
        </p:nvSpPr>
        <p:spPr>
          <a:xfrm>
            <a:off x="10106359" y="1992909"/>
            <a:ext cx="5673235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Site Comparison Overview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55428" y="2385672"/>
          <a:ext cx="5825976" cy="1865622"/>
        </p:xfrm>
        <a:graphic>
          <a:graphicData uri="http://schemas.openxmlformats.org/drawingml/2006/table">
            <a:tbl>
              <a:tblPr/>
              <a:tblGrid>
                <a:gridCol w="170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937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IP Range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Area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VLANs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50.50.0.0/16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Area 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Branch 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10.20.0.0/16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Area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Emergency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10.10.0.0/16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Area 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Branch 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172.16.0.0/16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Area 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4ECDC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Branch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172.16.0.0/16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Area 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B4C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9720870" y="4527681"/>
            <a:ext cx="6095091" cy="4829523"/>
          </a:xfrm>
          <a:custGeom>
            <a:avLst/>
            <a:gdLst/>
            <a:ahLst/>
            <a:cxnLst/>
            <a:rect l="l" t="t" r="r" b="b"/>
            <a:pathLst>
              <a:path w="6095091" h="4829523">
                <a:moveTo>
                  <a:pt x="0" y="0"/>
                </a:moveTo>
                <a:lnTo>
                  <a:pt x="6095091" y="0"/>
                </a:lnTo>
                <a:lnTo>
                  <a:pt x="6095091" y="4829523"/>
                </a:lnTo>
                <a:lnTo>
                  <a:pt x="0" y="4829523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82703" y="4716782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128875" y="135012"/>
                </a:moveTo>
                <a:cubicBezTo>
                  <a:pt x="166157" y="135012"/>
                  <a:pt x="196381" y="104788"/>
                  <a:pt x="196381" y="67506"/>
                </a:cubicBezTo>
                <a:cubicBezTo>
                  <a:pt x="196381" y="30224"/>
                  <a:pt x="166157" y="0"/>
                  <a:pt x="128875" y="0"/>
                </a:cubicBezTo>
                <a:cubicBezTo>
                  <a:pt x="91593" y="0"/>
                  <a:pt x="61369" y="30224"/>
                  <a:pt x="61369" y="67506"/>
                </a:cubicBezTo>
                <a:cubicBezTo>
                  <a:pt x="61369" y="74679"/>
                  <a:pt x="62481" y="81621"/>
                  <a:pt x="64553" y="88103"/>
                </a:cubicBezTo>
                <a:lnTo>
                  <a:pt x="2685" y="149971"/>
                </a:lnTo>
                <a:cubicBezTo>
                  <a:pt x="959" y="151697"/>
                  <a:pt x="0" y="154037"/>
                  <a:pt x="0" y="156491"/>
                </a:cubicBezTo>
                <a:lnTo>
                  <a:pt x="0" y="187176"/>
                </a:lnTo>
                <a:cubicBezTo>
                  <a:pt x="0" y="192277"/>
                  <a:pt x="4104" y="196381"/>
                  <a:pt x="9205" y="196381"/>
                </a:cubicBezTo>
                <a:lnTo>
                  <a:pt x="39890" y="196381"/>
                </a:lnTo>
                <a:cubicBezTo>
                  <a:pt x="44991" y="196381"/>
                  <a:pt x="49095" y="192277"/>
                  <a:pt x="49095" y="187176"/>
                </a:cubicBezTo>
                <a:lnTo>
                  <a:pt x="49095" y="171834"/>
                </a:lnTo>
                <a:lnTo>
                  <a:pt x="64438" y="171834"/>
                </a:lnTo>
                <a:cubicBezTo>
                  <a:pt x="69539" y="171834"/>
                  <a:pt x="73643" y="167729"/>
                  <a:pt x="73643" y="162628"/>
                </a:cubicBezTo>
                <a:lnTo>
                  <a:pt x="73643" y="147286"/>
                </a:lnTo>
                <a:lnTo>
                  <a:pt x="88985" y="147286"/>
                </a:lnTo>
                <a:cubicBezTo>
                  <a:pt x="91440" y="147286"/>
                  <a:pt x="93780" y="146327"/>
                  <a:pt x="95506" y="144601"/>
                </a:cubicBezTo>
                <a:lnTo>
                  <a:pt x="108278" y="131829"/>
                </a:lnTo>
                <a:cubicBezTo>
                  <a:pt x="114760" y="133900"/>
                  <a:pt x="121703" y="135012"/>
                  <a:pt x="128875" y="135012"/>
                </a:cubicBezTo>
                <a:close/>
                <a:moveTo>
                  <a:pt x="144217" y="36821"/>
                </a:moveTo>
                <a:cubicBezTo>
                  <a:pt x="152685" y="36821"/>
                  <a:pt x="159560" y="43696"/>
                  <a:pt x="159560" y="52164"/>
                </a:cubicBezTo>
                <a:cubicBezTo>
                  <a:pt x="159560" y="60631"/>
                  <a:pt x="152685" y="67506"/>
                  <a:pt x="144217" y="67506"/>
                </a:cubicBezTo>
                <a:cubicBezTo>
                  <a:pt x="135750" y="67506"/>
                  <a:pt x="128875" y="60631"/>
                  <a:pt x="128875" y="52164"/>
                </a:cubicBezTo>
                <a:cubicBezTo>
                  <a:pt x="128875" y="43696"/>
                  <a:pt x="135750" y="36821"/>
                  <a:pt x="144217" y="3682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2"/>
          <p:cNvSpPr/>
          <p:nvPr/>
        </p:nvSpPr>
        <p:spPr>
          <a:xfrm>
            <a:off x="10106359" y="4662232"/>
            <a:ext cx="5673235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Comparison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869975" y="5054994"/>
            <a:ext cx="5807792" cy="654604"/>
          </a:xfrm>
          <a:custGeom>
            <a:avLst/>
            <a:gdLst/>
            <a:ahLst/>
            <a:cxnLst/>
            <a:rect l="l" t="t" r="r" b="b"/>
            <a:pathLst>
              <a:path w="5807792" h="654604">
                <a:moveTo>
                  <a:pt x="0" y="0"/>
                </a:moveTo>
                <a:lnTo>
                  <a:pt x="5807792" y="0"/>
                </a:lnTo>
                <a:lnTo>
                  <a:pt x="5807792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Shape 14"/>
          <p:cNvSpPr/>
          <p:nvPr/>
        </p:nvSpPr>
        <p:spPr>
          <a:xfrm>
            <a:off x="9869975" y="5054994"/>
            <a:ext cx="29094" cy="654604"/>
          </a:xfrm>
          <a:custGeom>
            <a:avLst/>
            <a:gdLst/>
            <a:ahLst/>
            <a:cxnLst/>
            <a:rect l="l" t="t" r="r" b="b"/>
            <a:pathLst>
              <a:path w="29094" h="654604">
                <a:moveTo>
                  <a:pt x="0" y="0"/>
                </a:moveTo>
                <a:lnTo>
                  <a:pt x="29094" y="0"/>
                </a:lnTo>
                <a:lnTo>
                  <a:pt x="29094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Text 15"/>
          <p:cNvSpPr/>
          <p:nvPr/>
        </p:nvSpPr>
        <p:spPr>
          <a:xfrm>
            <a:off x="9971801" y="5142275"/>
            <a:ext cx="5695055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971801" y="5404116"/>
            <a:ext cx="5695055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sites: Dual core switches, dual routers, HSRP/LACP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9869975" y="5796879"/>
            <a:ext cx="5807792" cy="654604"/>
          </a:xfrm>
          <a:custGeom>
            <a:avLst/>
            <a:gdLst/>
            <a:ahLst/>
            <a:cxnLst/>
            <a:rect l="l" t="t" r="r" b="b"/>
            <a:pathLst>
              <a:path w="5807792" h="654604">
                <a:moveTo>
                  <a:pt x="0" y="0"/>
                </a:moveTo>
                <a:lnTo>
                  <a:pt x="5807792" y="0"/>
                </a:lnTo>
                <a:lnTo>
                  <a:pt x="5807792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Shape 18"/>
          <p:cNvSpPr/>
          <p:nvPr/>
        </p:nvSpPr>
        <p:spPr>
          <a:xfrm>
            <a:off x="9869975" y="5796879"/>
            <a:ext cx="29094" cy="654604"/>
          </a:xfrm>
          <a:custGeom>
            <a:avLst/>
            <a:gdLst/>
            <a:ahLst/>
            <a:cxnLst/>
            <a:rect l="l" t="t" r="r" b="b"/>
            <a:pathLst>
              <a:path w="29094" h="654604">
                <a:moveTo>
                  <a:pt x="0" y="0"/>
                </a:moveTo>
                <a:lnTo>
                  <a:pt x="29094" y="0"/>
                </a:lnTo>
                <a:lnTo>
                  <a:pt x="29094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3" name="Text 19"/>
          <p:cNvSpPr/>
          <p:nvPr/>
        </p:nvSpPr>
        <p:spPr>
          <a:xfrm>
            <a:off x="9971801" y="5884159"/>
            <a:ext cx="5695055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9971801" y="6146001"/>
            <a:ext cx="5695055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HQ &amp; Emergency: AAA/RADIUS | Branch 4: NAT/PAT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9869975" y="6538763"/>
            <a:ext cx="5807792" cy="654604"/>
          </a:xfrm>
          <a:custGeom>
            <a:avLst/>
            <a:gdLst/>
            <a:ahLst/>
            <a:cxnLst/>
            <a:rect l="l" t="t" r="r" b="b"/>
            <a:pathLst>
              <a:path w="5807792" h="654604">
                <a:moveTo>
                  <a:pt x="0" y="0"/>
                </a:moveTo>
                <a:lnTo>
                  <a:pt x="5807792" y="0"/>
                </a:lnTo>
                <a:lnTo>
                  <a:pt x="5807792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2"/>
          <p:cNvSpPr/>
          <p:nvPr/>
        </p:nvSpPr>
        <p:spPr>
          <a:xfrm>
            <a:off x="9869975" y="6538763"/>
            <a:ext cx="29094" cy="654604"/>
          </a:xfrm>
          <a:custGeom>
            <a:avLst/>
            <a:gdLst/>
            <a:ahLst/>
            <a:cxnLst/>
            <a:rect l="l" t="t" r="r" b="b"/>
            <a:pathLst>
              <a:path w="29094" h="654604">
                <a:moveTo>
                  <a:pt x="0" y="0"/>
                </a:moveTo>
                <a:lnTo>
                  <a:pt x="29094" y="0"/>
                </a:lnTo>
                <a:lnTo>
                  <a:pt x="29094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3"/>
          <p:cNvSpPr/>
          <p:nvPr/>
        </p:nvSpPr>
        <p:spPr>
          <a:xfrm>
            <a:off x="9971801" y="6626044"/>
            <a:ext cx="5695055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VoIP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971801" y="6887885"/>
            <a:ext cx="5695055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HQ: 5 phones | Branch 2: 4 phones | Emergency: 10 hotlines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9869975" y="7280648"/>
            <a:ext cx="5807792" cy="654604"/>
          </a:xfrm>
          <a:custGeom>
            <a:avLst/>
            <a:gdLst/>
            <a:ahLst/>
            <a:cxnLst/>
            <a:rect l="l" t="t" r="r" b="b"/>
            <a:pathLst>
              <a:path w="5807792" h="654604">
                <a:moveTo>
                  <a:pt x="0" y="0"/>
                </a:moveTo>
                <a:lnTo>
                  <a:pt x="5807792" y="0"/>
                </a:lnTo>
                <a:lnTo>
                  <a:pt x="5807792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6"/>
          <p:cNvSpPr/>
          <p:nvPr/>
        </p:nvSpPr>
        <p:spPr>
          <a:xfrm>
            <a:off x="9869975" y="7280648"/>
            <a:ext cx="29094" cy="654604"/>
          </a:xfrm>
          <a:custGeom>
            <a:avLst/>
            <a:gdLst/>
            <a:ahLst/>
            <a:cxnLst/>
            <a:rect l="l" t="t" r="r" b="b"/>
            <a:pathLst>
              <a:path w="29094" h="654604">
                <a:moveTo>
                  <a:pt x="0" y="0"/>
                </a:moveTo>
                <a:lnTo>
                  <a:pt x="29094" y="0"/>
                </a:lnTo>
                <a:lnTo>
                  <a:pt x="29094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1" name="Text 27"/>
          <p:cNvSpPr/>
          <p:nvPr/>
        </p:nvSpPr>
        <p:spPr>
          <a:xfrm>
            <a:off x="9971801" y="7367928"/>
            <a:ext cx="5695055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Features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9971801" y="7629770"/>
            <a:ext cx="5695055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HQ: IoT Security | Emergency: Load-balanced HSRP | Branch 4: Dual ISP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440039" y="9451755"/>
            <a:ext cx="3771247" cy="749158"/>
          </a:xfrm>
          <a:custGeom>
            <a:avLst/>
            <a:gdLst/>
            <a:ahLst/>
            <a:cxnLst/>
            <a:rect l="l" t="t" r="r" b="b"/>
            <a:pathLst>
              <a:path w="3771247" h="749158">
                <a:moveTo>
                  <a:pt x="0" y="0"/>
                </a:moveTo>
                <a:lnTo>
                  <a:pt x="3771247" y="0"/>
                </a:lnTo>
                <a:lnTo>
                  <a:pt x="3771247" y="749158"/>
                </a:lnTo>
                <a:lnTo>
                  <a:pt x="0" y="749158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5496" y="9542676"/>
            <a:ext cx="3720333" cy="349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62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492771" y="9891798"/>
            <a:ext cx="3665783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Sites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4306976" y="9451755"/>
            <a:ext cx="3771247" cy="749158"/>
          </a:xfrm>
          <a:custGeom>
            <a:avLst/>
            <a:gdLst/>
            <a:ahLst/>
            <a:cxnLst/>
            <a:rect l="l" t="t" r="r" b="b"/>
            <a:pathLst>
              <a:path w="3771247" h="749158">
                <a:moveTo>
                  <a:pt x="0" y="0"/>
                </a:moveTo>
                <a:lnTo>
                  <a:pt x="3771247" y="0"/>
                </a:lnTo>
                <a:lnTo>
                  <a:pt x="3771247" y="749158"/>
                </a:lnTo>
                <a:lnTo>
                  <a:pt x="0" y="749158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332433" y="9542676"/>
            <a:ext cx="3720333" cy="349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62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4359708" y="9891798"/>
            <a:ext cx="3665783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OSPF Areas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8174027" y="9451755"/>
            <a:ext cx="3771247" cy="749158"/>
          </a:xfrm>
          <a:custGeom>
            <a:avLst/>
            <a:gdLst/>
            <a:ahLst/>
            <a:cxnLst/>
            <a:rect l="l" t="t" r="r" b="b"/>
            <a:pathLst>
              <a:path w="3771247" h="749158">
                <a:moveTo>
                  <a:pt x="0" y="0"/>
                </a:moveTo>
                <a:lnTo>
                  <a:pt x="3771247" y="0"/>
                </a:lnTo>
                <a:lnTo>
                  <a:pt x="3771247" y="749158"/>
                </a:lnTo>
                <a:lnTo>
                  <a:pt x="0" y="749158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199484" y="9542676"/>
            <a:ext cx="3720333" cy="349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62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8226759" y="9891798"/>
            <a:ext cx="3665783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VLANs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12040965" y="9451755"/>
            <a:ext cx="3771247" cy="749158"/>
          </a:xfrm>
          <a:custGeom>
            <a:avLst/>
            <a:gdLst/>
            <a:ahLst/>
            <a:cxnLst/>
            <a:rect l="l" t="t" r="r" b="b"/>
            <a:pathLst>
              <a:path w="3771247" h="749158">
                <a:moveTo>
                  <a:pt x="0" y="0"/>
                </a:moveTo>
                <a:lnTo>
                  <a:pt x="3771247" y="0"/>
                </a:lnTo>
                <a:lnTo>
                  <a:pt x="3771247" y="749158"/>
                </a:lnTo>
                <a:lnTo>
                  <a:pt x="0" y="749158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 w="8467">
            <a:solidFill>
              <a:srgbClr val="4ECDC4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2066421" y="9542676"/>
            <a:ext cx="3720333" cy="349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62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~5,000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12093696" y="9891798"/>
            <a:ext cx="3665783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Capacity</a:t>
            </a:r>
            <a:endParaRPr lang="en-US" sz="16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A2CA6E0-8B8E-27F0-2555-A3A5C56D6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884" y="2384697"/>
            <a:ext cx="6551340" cy="653938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upload.wikimedia.org/5962c36533e357dfa2e6392ffd83d639d35ebace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9126" b="9126"/>
          <a:stretch/>
        </p:blipFill>
        <p:spPr>
          <a:xfrm>
            <a:off x="0" y="0"/>
            <a:ext cx="16256000" cy="9966681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966681"/>
          </a:xfrm>
          <a:custGeom>
            <a:avLst/>
            <a:gdLst/>
            <a:ahLst/>
            <a:cxnLst/>
            <a:rect l="l" t="t" r="r" b="b"/>
            <a:pathLst>
              <a:path w="16256000" h="9966681">
                <a:moveTo>
                  <a:pt x="0" y="0"/>
                </a:moveTo>
                <a:lnTo>
                  <a:pt x="16256000" y="0"/>
                </a:lnTo>
                <a:lnTo>
                  <a:pt x="16256000" y="9966681"/>
                </a:lnTo>
                <a:lnTo>
                  <a:pt x="0" y="996668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503274" y="135805"/>
            <a:ext cx="5246827" cy="664445"/>
          </a:xfrm>
          <a:custGeom>
            <a:avLst/>
            <a:gdLst/>
            <a:ahLst/>
            <a:cxnLst/>
            <a:rect l="l" t="t" r="r" b="b"/>
            <a:pathLst>
              <a:path w="5246827" h="664445">
                <a:moveTo>
                  <a:pt x="0" y="0"/>
                </a:moveTo>
                <a:lnTo>
                  <a:pt x="5246827" y="0"/>
                </a:lnTo>
                <a:lnTo>
                  <a:pt x="5246827" y="664445"/>
                </a:lnTo>
                <a:lnTo>
                  <a:pt x="0" y="6644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20937" y="269461"/>
            <a:ext cx="4810189" cy="389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65" b="1" kern="0" spc="649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COMPLETE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86399" y="1086649"/>
            <a:ext cx="15683202" cy="1718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12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PESI: Enterprise-Grade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12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59729" y="2988337"/>
            <a:ext cx="2932724" cy="45824"/>
          </a:xfrm>
          <a:custGeom>
            <a:avLst/>
            <a:gdLst/>
            <a:ahLst/>
            <a:cxnLst/>
            <a:rect l="l" t="t" r="r" b="b"/>
            <a:pathLst>
              <a:path w="2932724" h="45824">
                <a:moveTo>
                  <a:pt x="0" y="0"/>
                </a:moveTo>
                <a:lnTo>
                  <a:pt x="2932724" y="0"/>
                </a:lnTo>
                <a:lnTo>
                  <a:pt x="2932724" y="45824"/>
                </a:lnTo>
                <a:lnTo>
                  <a:pt x="0" y="4582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5"/>
          <p:cNvSpPr/>
          <p:nvPr/>
        </p:nvSpPr>
        <p:spPr>
          <a:xfrm>
            <a:off x="2203362" y="3309104"/>
            <a:ext cx="11845457" cy="74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4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 network delivering mission-critical emergency services across Pakistan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4" dirty="0">
                <a:solidFill>
                  <a:srgbClr val="A9B4C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 zero single points of failure, maximum uptime, and scalable architecture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9134" y="4435606"/>
            <a:ext cx="889746" cy="889746"/>
          </a:xfrm>
          <a:custGeom>
            <a:avLst/>
            <a:gdLst/>
            <a:ahLst/>
            <a:cxnLst/>
            <a:rect l="l" t="t" r="r" b="b"/>
            <a:pathLst>
              <a:path w="889746" h="889746">
                <a:moveTo>
                  <a:pt x="0" y="0"/>
                </a:moveTo>
                <a:lnTo>
                  <a:pt x="889746" y="0"/>
                </a:lnTo>
                <a:lnTo>
                  <a:pt x="889746" y="889746"/>
                </a:lnTo>
                <a:lnTo>
                  <a:pt x="0" y="8897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3867">
            <a:solidFill>
              <a:srgbClr val="4ECD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81643" y="4706731"/>
            <a:ext cx="386638" cy="343679"/>
          </a:xfrm>
          <a:custGeom>
            <a:avLst/>
            <a:gdLst/>
            <a:ahLst/>
            <a:cxnLst/>
            <a:rect l="l" t="t" r="r" b="b"/>
            <a:pathLst>
              <a:path w="386638" h="343679">
                <a:moveTo>
                  <a:pt x="166469" y="59070"/>
                </a:moveTo>
                <a:lnTo>
                  <a:pt x="220169" y="59070"/>
                </a:lnTo>
                <a:lnTo>
                  <a:pt x="220169" y="91290"/>
                </a:lnTo>
                <a:lnTo>
                  <a:pt x="166469" y="91290"/>
                </a:lnTo>
                <a:lnTo>
                  <a:pt x="166469" y="59070"/>
                </a:lnTo>
                <a:close/>
                <a:moveTo>
                  <a:pt x="161099" y="21480"/>
                </a:moveTo>
                <a:cubicBezTo>
                  <a:pt x="143311" y="21480"/>
                  <a:pt x="128879" y="35912"/>
                  <a:pt x="128879" y="53700"/>
                </a:cubicBezTo>
                <a:lnTo>
                  <a:pt x="128879" y="96660"/>
                </a:lnTo>
                <a:cubicBezTo>
                  <a:pt x="128879" y="114448"/>
                  <a:pt x="143311" y="128879"/>
                  <a:pt x="161099" y="128879"/>
                </a:cubicBezTo>
                <a:lnTo>
                  <a:pt x="171839" y="128879"/>
                </a:lnTo>
                <a:lnTo>
                  <a:pt x="171839" y="150359"/>
                </a:lnTo>
                <a:lnTo>
                  <a:pt x="21480" y="150359"/>
                </a:lnTo>
                <a:cubicBezTo>
                  <a:pt x="9599" y="150359"/>
                  <a:pt x="0" y="159958"/>
                  <a:pt x="0" y="171839"/>
                </a:cubicBezTo>
                <a:cubicBezTo>
                  <a:pt x="0" y="183720"/>
                  <a:pt x="9599" y="193319"/>
                  <a:pt x="21480" y="193319"/>
                </a:cubicBezTo>
                <a:lnTo>
                  <a:pt x="85920" y="193319"/>
                </a:lnTo>
                <a:lnTo>
                  <a:pt x="85920" y="214799"/>
                </a:lnTo>
                <a:lnTo>
                  <a:pt x="75180" y="214799"/>
                </a:lnTo>
                <a:cubicBezTo>
                  <a:pt x="57392" y="214799"/>
                  <a:pt x="42960" y="229231"/>
                  <a:pt x="42960" y="247019"/>
                </a:cubicBezTo>
                <a:lnTo>
                  <a:pt x="42960" y="289979"/>
                </a:lnTo>
                <a:cubicBezTo>
                  <a:pt x="42960" y="307767"/>
                  <a:pt x="57392" y="322199"/>
                  <a:pt x="75180" y="322199"/>
                </a:cubicBezTo>
                <a:lnTo>
                  <a:pt x="139619" y="322199"/>
                </a:lnTo>
                <a:cubicBezTo>
                  <a:pt x="157408" y="322199"/>
                  <a:pt x="171839" y="307767"/>
                  <a:pt x="171839" y="289979"/>
                </a:cubicBezTo>
                <a:lnTo>
                  <a:pt x="171839" y="247019"/>
                </a:lnTo>
                <a:cubicBezTo>
                  <a:pt x="171839" y="229231"/>
                  <a:pt x="157408" y="214799"/>
                  <a:pt x="139619" y="214799"/>
                </a:cubicBezTo>
                <a:lnTo>
                  <a:pt x="128879" y="214799"/>
                </a:lnTo>
                <a:lnTo>
                  <a:pt x="128879" y="193319"/>
                </a:lnTo>
                <a:lnTo>
                  <a:pt x="257759" y="193319"/>
                </a:lnTo>
                <a:lnTo>
                  <a:pt x="257759" y="214799"/>
                </a:lnTo>
                <a:lnTo>
                  <a:pt x="247019" y="214799"/>
                </a:lnTo>
                <a:cubicBezTo>
                  <a:pt x="229231" y="214799"/>
                  <a:pt x="214799" y="229231"/>
                  <a:pt x="214799" y="247019"/>
                </a:cubicBezTo>
                <a:lnTo>
                  <a:pt x="214799" y="289979"/>
                </a:lnTo>
                <a:cubicBezTo>
                  <a:pt x="214799" y="307767"/>
                  <a:pt x="229231" y="322199"/>
                  <a:pt x="247019" y="322199"/>
                </a:cubicBezTo>
                <a:lnTo>
                  <a:pt x="311459" y="322199"/>
                </a:lnTo>
                <a:cubicBezTo>
                  <a:pt x="329247" y="322199"/>
                  <a:pt x="343679" y="307767"/>
                  <a:pt x="343679" y="289979"/>
                </a:cubicBezTo>
                <a:lnTo>
                  <a:pt x="343679" y="247019"/>
                </a:lnTo>
                <a:cubicBezTo>
                  <a:pt x="343679" y="229231"/>
                  <a:pt x="329247" y="214799"/>
                  <a:pt x="311459" y="214799"/>
                </a:cubicBezTo>
                <a:lnTo>
                  <a:pt x="300719" y="214799"/>
                </a:lnTo>
                <a:lnTo>
                  <a:pt x="300719" y="193319"/>
                </a:lnTo>
                <a:lnTo>
                  <a:pt x="365159" y="193319"/>
                </a:lnTo>
                <a:cubicBezTo>
                  <a:pt x="377040" y="193319"/>
                  <a:pt x="386638" y="183720"/>
                  <a:pt x="386638" y="171839"/>
                </a:cubicBezTo>
                <a:cubicBezTo>
                  <a:pt x="386638" y="159958"/>
                  <a:pt x="377040" y="150359"/>
                  <a:pt x="365159" y="150359"/>
                </a:cubicBezTo>
                <a:lnTo>
                  <a:pt x="214799" y="150359"/>
                </a:lnTo>
                <a:lnTo>
                  <a:pt x="214799" y="128879"/>
                </a:lnTo>
                <a:lnTo>
                  <a:pt x="225539" y="128879"/>
                </a:lnTo>
                <a:cubicBezTo>
                  <a:pt x="243327" y="128879"/>
                  <a:pt x="257759" y="114448"/>
                  <a:pt x="257759" y="96660"/>
                </a:cubicBezTo>
                <a:lnTo>
                  <a:pt x="257759" y="53700"/>
                </a:lnTo>
                <a:cubicBezTo>
                  <a:pt x="257759" y="35912"/>
                  <a:pt x="243327" y="21480"/>
                  <a:pt x="225539" y="21480"/>
                </a:cubicBezTo>
                <a:lnTo>
                  <a:pt x="161099" y="21480"/>
                </a:lnTo>
                <a:close/>
                <a:moveTo>
                  <a:pt x="300719" y="252389"/>
                </a:moveTo>
                <a:lnTo>
                  <a:pt x="306089" y="252389"/>
                </a:lnTo>
                <a:lnTo>
                  <a:pt x="306089" y="284609"/>
                </a:lnTo>
                <a:lnTo>
                  <a:pt x="252389" y="284609"/>
                </a:lnTo>
                <a:lnTo>
                  <a:pt x="252389" y="252389"/>
                </a:lnTo>
                <a:lnTo>
                  <a:pt x="300719" y="252389"/>
                </a:lnTo>
                <a:close/>
                <a:moveTo>
                  <a:pt x="128879" y="252389"/>
                </a:moveTo>
                <a:lnTo>
                  <a:pt x="134249" y="252389"/>
                </a:lnTo>
                <a:lnTo>
                  <a:pt x="134249" y="284609"/>
                </a:lnTo>
                <a:lnTo>
                  <a:pt x="80550" y="284609"/>
                </a:lnTo>
                <a:lnTo>
                  <a:pt x="80550" y="252389"/>
                </a:lnTo>
                <a:lnTo>
                  <a:pt x="128879" y="25238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355135" y="5474280"/>
            <a:ext cx="3837745" cy="45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24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6686" y="6024165"/>
            <a:ext cx="3734641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VLANs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2414" y="6344932"/>
            <a:ext cx="3723185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4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segmentation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31796" y="4435606"/>
            <a:ext cx="889746" cy="889746"/>
          </a:xfrm>
          <a:custGeom>
            <a:avLst/>
            <a:gdLst/>
            <a:ahLst/>
            <a:cxnLst/>
            <a:rect l="l" t="t" r="r" b="b"/>
            <a:pathLst>
              <a:path w="889746" h="889746">
                <a:moveTo>
                  <a:pt x="0" y="0"/>
                </a:moveTo>
                <a:lnTo>
                  <a:pt x="889746" y="0"/>
                </a:lnTo>
                <a:lnTo>
                  <a:pt x="889746" y="889746"/>
                </a:lnTo>
                <a:lnTo>
                  <a:pt x="0" y="8897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3867">
            <a:solidFill>
              <a:srgbClr val="4ECD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05784" y="4706731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0"/>
                </a:moveTo>
                <a:cubicBezTo>
                  <a:pt x="174927" y="0"/>
                  <a:pt x="178015" y="671"/>
                  <a:pt x="180834" y="1947"/>
                </a:cubicBezTo>
                <a:lnTo>
                  <a:pt x="307297" y="55579"/>
                </a:lnTo>
                <a:cubicBezTo>
                  <a:pt x="322064" y="61822"/>
                  <a:pt x="333073" y="76388"/>
                  <a:pt x="333006" y="93975"/>
                </a:cubicBezTo>
                <a:cubicBezTo>
                  <a:pt x="332670" y="160562"/>
                  <a:pt x="305283" y="282394"/>
                  <a:pt x="189627" y="337772"/>
                </a:cubicBezTo>
                <a:cubicBezTo>
                  <a:pt x="178418" y="343142"/>
                  <a:pt x="165395" y="343142"/>
                  <a:pt x="154186" y="337772"/>
                </a:cubicBezTo>
                <a:cubicBezTo>
                  <a:pt x="38462" y="282394"/>
                  <a:pt x="11143" y="160562"/>
                  <a:pt x="10807" y="93975"/>
                </a:cubicBezTo>
                <a:cubicBezTo>
                  <a:pt x="10740" y="76388"/>
                  <a:pt x="21748" y="61822"/>
                  <a:pt x="36516" y="55579"/>
                </a:cubicBezTo>
                <a:lnTo>
                  <a:pt x="162912" y="1947"/>
                </a:lnTo>
                <a:cubicBezTo>
                  <a:pt x="165731" y="671"/>
                  <a:pt x="168752" y="0"/>
                  <a:pt x="171839" y="0"/>
                </a:cubicBezTo>
                <a:close/>
                <a:moveTo>
                  <a:pt x="171839" y="44839"/>
                </a:moveTo>
                <a:lnTo>
                  <a:pt x="171839" y="298638"/>
                </a:lnTo>
                <a:cubicBezTo>
                  <a:pt x="264471" y="253799"/>
                  <a:pt x="289375" y="154454"/>
                  <a:pt x="289979" y="94982"/>
                </a:cubicBezTo>
                <a:lnTo>
                  <a:pt x="171839" y="44906"/>
                </a:lnTo>
                <a:lnTo>
                  <a:pt x="171839" y="4490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3"/>
          <p:cNvSpPr/>
          <p:nvPr/>
        </p:nvSpPr>
        <p:spPr>
          <a:xfrm>
            <a:off x="4257797" y="5474280"/>
            <a:ext cx="3837745" cy="45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24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09349" y="6024165"/>
            <a:ext cx="3734641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15077" y="6344932"/>
            <a:ext cx="3723185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4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point of failure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634458" y="4435606"/>
            <a:ext cx="889746" cy="889746"/>
          </a:xfrm>
          <a:custGeom>
            <a:avLst/>
            <a:gdLst/>
            <a:ahLst/>
            <a:cxnLst/>
            <a:rect l="l" t="t" r="r" b="b"/>
            <a:pathLst>
              <a:path w="889746" h="889746">
                <a:moveTo>
                  <a:pt x="0" y="0"/>
                </a:moveTo>
                <a:lnTo>
                  <a:pt x="889746" y="0"/>
                </a:lnTo>
                <a:lnTo>
                  <a:pt x="889746" y="889746"/>
                </a:lnTo>
                <a:lnTo>
                  <a:pt x="0" y="8897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3867">
            <a:solidFill>
              <a:srgbClr val="4ECD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65487" y="4706731"/>
            <a:ext cx="429598" cy="343679"/>
          </a:xfrm>
          <a:custGeom>
            <a:avLst/>
            <a:gdLst/>
            <a:ahLst/>
            <a:cxnLst/>
            <a:rect l="l" t="t" r="r" b="b"/>
            <a:pathLst>
              <a:path w="429598" h="343679">
                <a:moveTo>
                  <a:pt x="214799" y="10740"/>
                </a:moveTo>
                <a:cubicBezTo>
                  <a:pt x="253328" y="10740"/>
                  <a:pt x="284609" y="42021"/>
                  <a:pt x="284609" y="80550"/>
                </a:cubicBezTo>
                <a:cubicBezTo>
                  <a:pt x="284609" y="119079"/>
                  <a:pt x="253328" y="150359"/>
                  <a:pt x="214799" y="150359"/>
                </a:cubicBezTo>
                <a:cubicBezTo>
                  <a:pt x="176270" y="150359"/>
                  <a:pt x="144989" y="119079"/>
                  <a:pt x="144989" y="80550"/>
                </a:cubicBezTo>
                <a:cubicBezTo>
                  <a:pt x="144989" y="42021"/>
                  <a:pt x="176270" y="10740"/>
                  <a:pt x="214799" y="10740"/>
                </a:cubicBezTo>
                <a:close/>
                <a:moveTo>
                  <a:pt x="64440" y="59070"/>
                </a:moveTo>
                <a:cubicBezTo>
                  <a:pt x="91114" y="59070"/>
                  <a:pt x="112770" y="80726"/>
                  <a:pt x="112770" y="107400"/>
                </a:cubicBezTo>
                <a:cubicBezTo>
                  <a:pt x="112770" y="134074"/>
                  <a:pt x="91114" y="155729"/>
                  <a:pt x="64440" y="155729"/>
                </a:cubicBezTo>
                <a:cubicBezTo>
                  <a:pt x="37766" y="155729"/>
                  <a:pt x="16110" y="134074"/>
                  <a:pt x="16110" y="107400"/>
                </a:cubicBezTo>
                <a:cubicBezTo>
                  <a:pt x="16110" y="80726"/>
                  <a:pt x="37766" y="59070"/>
                  <a:pt x="64440" y="59070"/>
                </a:cubicBezTo>
                <a:close/>
                <a:moveTo>
                  <a:pt x="0" y="279239"/>
                </a:moveTo>
                <a:cubicBezTo>
                  <a:pt x="0" y="231782"/>
                  <a:pt x="38462" y="193319"/>
                  <a:pt x="85920" y="193319"/>
                </a:cubicBezTo>
                <a:cubicBezTo>
                  <a:pt x="94512" y="193319"/>
                  <a:pt x="102835" y="194595"/>
                  <a:pt x="110689" y="196944"/>
                </a:cubicBezTo>
                <a:cubicBezTo>
                  <a:pt x="88605" y="221646"/>
                  <a:pt x="75180" y="254268"/>
                  <a:pt x="75180" y="289979"/>
                </a:cubicBezTo>
                <a:lnTo>
                  <a:pt x="75180" y="300719"/>
                </a:lnTo>
                <a:cubicBezTo>
                  <a:pt x="75180" y="308371"/>
                  <a:pt x="76791" y="315621"/>
                  <a:pt x="79677" y="322199"/>
                </a:cubicBezTo>
                <a:lnTo>
                  <a:pt x="21480" y="322199"/>
                </a:lnTo>
                <a:cubicBezTo>
                  <a:pt x="9599" y="322199"/>
                  <a:pt x="0" y="312600"/>
                  <a:pt x="0" y="300719"/>
                </a:cubicBezTo>
                <a:lnTo>
                  <a:pt x="0" y="279239"/>
                </a:lnTo>
                <a:close/>
                <a:moveTo>
                  <a:pt x="349921" y="322199"/>
                </a:moveTo>
                <a:cubicBezTo>
                  <a:pt x="352808" y="315621"/>
                  <a:pt x="354419" y="308371"/>
                  <a:pt x="354419" y="300719"/>
                </a:cubicBezTo>
                <a:lnTo>
                  <a:pt x="354419" y="289979"/>
                </a:lnTo>
                <a:cubicBezTo>
                  <a:pt x="354419" y="254268"/>
                  <a:pt x="340994" y="221646"/>
                  <a:pt x="318910" y="196944"/>
                </a:cubicBezTo>
                <a:cubicBezTo>
                  <a:pt x="326763" y="194595"/>
                  <a:pt x="335087" y="193319"/>
                  <a:pt x="343679" y="193319"/>
                </a:cubicBezTo>
                <a:cubicBezTo>
                  <a:pt x="391136" y="193319"/>
                  <a:pt x="429598" y="231782"/>
                  <a:pt x="429598" y="279239"/>
                </a:cubicBezTo>
                <a:lnTo>
                  <a:pt x="429598" y="300719"/>
                </a:lnTo>
                <a:cubicBezTo>
                  <a:pt x="429598" y="312600"/>
                  <a:pt x="419999" y="322199"/>
                  <a:pt x="408118" y="322199"/>
                </a:cubicBezTo>
                <a:lnTo>
                  <a:pt x="349921" y="322199"/>
                </a:lnTo>
                <a:close/>
                <a:moveTo>
                  <a:pt x="316829" y="107400"/>
                </a:moveTo>
                <a:cubicBezTo>
                  <a:pt x="316829" y="80726"/>
                  <a:pt x="338485" y="59070"/>
                  <a:pt x="365159" y="59070"/>
                </a:cubicBezTo>
                <a:cubicBezTo>
                  <a:pt x="391833" y="59070"/>
                  <a:pt x="413488" y="80726"/>
                  <a:pt x="413488" y="107400"/>
                </a:cubicBezTo>
                <a:cubicBezTo>
                  <a:pt x="413488" y="134074"/>
                  <a:pt x="391833" y="155729"/>
                  <a:pt x="365159" y="155729"/>
                </a:cubicBezTo>
                <a:cubicBezTo>
                  <a:pt x="338485" y="155729"/>
                  <a:pt x="316829" y="134074"/>
                  <a:pt x="316829" y="107400"/>
                </a:cubicBezTo>
                <a:close/>
                <a:moveTo>
                  <a:pt x="107400" y="289979"/>
                </a:moveTo>
                <a:cubicBezTo>
                  <a:pt x="107400" y="230641"/>
                  <a:pt x="155461" y="182579"/>
                  <a:pt x="214799" y="182579"/>
                </a:cubicBezTo>
                <a:cubicBezTo>
                  <a:pt x="274137" y="182579"/>
                  <a:pt x="322199" y="230641"/>
                  <a:pt x="322199" y="289979"/>
                </a:cubicBezTo>
                <a:lnTo>
                  <a:pt x="322199" y="300719"/>
                </a:lnTo>
                <a:cubicBezTo>
                  <a:pt x="322199" y="312600"/>
                  <a:pt x="312600" y="322199"/>
                  <a:pt x="300719" y="322199"/>
                </a:cubicBezTo>
                <a:lnTo>
                  <a:pt x="128879" y="322199"/>
                </a:lnTo>
                <a:cubicBezTo>
                  <a:pt x="116998" y="322199"/>
                  <a:pt x="107400" y="312600"/>
                  <a:pt x="107400" y="300719"/>
                </a:cubicBezTo>
                <a:lnTo>
                  <a:pt x="107400" y="28997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8"/>
          <p:cNvSpPr/>
          <p:nvPr/>
        </p:nvSpPr>
        <p:spPr>
          <a:xfrm>
            <a:off x="8160459" y="5474280"/>
            <a:ext cx="3837745" cy="45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24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~5,000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12011" y="6024165"/>
            <a:ext cx="3734641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Capacity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17739" y="6344932"/>
            <a:ext cx="3723185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4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scale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3537121" y="4435606"/>
            <a:ext cx="889746" cy="889746"/>
          </a:xfrm>
          <a:custGeom>
            <a:avLst/>
            <a:gdLst/>
            <a:ahLst/>
            <a:cxnLst/>
            <a:rect l="l" t="t" r="r" b="b"/>
            <a:pathLst>
              <a:path w="889746" h="889746">
                <a:moveTo>
                  <a:pt x="0" y="0"/>
                </a:moveTo>
                <a:lnTo>
                  <a:pt x="889746" y="0"/>
                </a:lnTo>
                <a:lnTo>
                  <a:pt x="889746" y="889746"/>
                </a:lnTo>
                <a:lnTo>
                  <a:pt x="0" y="8897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3867">
            <a:solidFill>
              <a:srgbClr val="4ECD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811109" y="4706731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0"/>
                </a:moveTo>
                <a:cubicBezTo>
                  <a:pt x="266680" y="0"/>
                  <a:pt x="343679" y="76999"/>
                  <a:pt x="343679" y="171839"/>
                </a:cubicBezTo>
                <a:cubicBezTo>
                  <a:pt x="343679" y="266680"/>
                  <a:pt x="266680" y="343679"/>
                  <a:pt x="171839" y="343679"/>
                </a:cubicBezTo>
                <a:cubicBezTo>
                  <a:pt x="76999" y="343679"/>
                  <a:pt x="0" y="266680"/>
                  <a:pt x="0" y="171839"/>
                </a:cubicBezTo>
                <a:cubicBezTo>
                  <a:pt x="0" y="76999"/>
                  <a:pt x="76999" y="0"/>
                  <a:pt x="171839" y="0"/>
                </a:cubicBezTo>
                <a:close/>
                <a:moveTo>
                  <a:pt x="155729" y="80550"/>
                </a:moveTo>
                <a:lnTo>
                  <a:pt x="155729" y="171839"/>
                </a:lnTo>
                <a:cubicBezTo>
                  <a:pt x="155729" y="177209"/>
                  <a:pt x="158414" y="182244"/>
                  <a:pt x="162912" y="185264"/>
                </a:cubicBezTo>
                <a:lnTo>
                  <a:pt x="227351" y="228224"/>
                </a:lnTo>
                <a:cubicBezTo>
                  <a:pt x="234735" y="233191"/>
                  <a:pt x="244737" y="231178"/>
                  <a:pt x="249704" y="223727"/>
                </a:cubicBezTo>
                <a:cubicBezTo>
                  <a:pt x="254671" y="216276"/>
                  <a:pt x="252658" y="206341"/>
                  <a:pt x="245207" y="201374"/>
                </a:cubicBezTo>
                <a:lnTo>
                  <a:pt x="187949" y="163247"/>
                </a:lnTo>
                <a:lnTo>
                  <a:pt x="187949" y="80550"/>
                </a:lnTo>
                <a:cubicBezTo>
                  <a:pt x="187949" y="71622"/>
                  <a:pt x="180767" y="64440"/>
                  <a:pt x="171839" y="64440"/>
                </a:cubicBezTo>
                <a:cubicBezTo>
                  <a:pt x="162912" y="64440"/>
                  <a:pt x="155729" y="71622"/>
                  <a:pt x="155729" y="8055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3"/>
          <p:cNvSpPr/>
          <p:nvPr/>
        </p:nvSpPr>
        <p:spPr>
          <a:xfrm>
            <a:off x="12063121" y="5474280"/>
            <a:ext cx="3837745" cy="45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24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114672" y="6024165"/>
            <a:ext cx="3734641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Mission Critical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120400" y="6344932"/>
            <a:ext cx="3723185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4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operational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62057" y="6990284"/>
            <a:ext cx="4956610" cy="1451088"/>
          </a:xfrm>
          <a:custGeom>
            <a:avLst/>
            <a:gdLst/>
            <a:ahLst/>
            <a:cxnLst/>
            <a:rect l="l" t="t" r="r" b="b"/>
            <a:pathLst>
              <a:path w="4956610" h="1451088">
                <a:moveTo>
                  <a:pt x="0" y="0"/>
                </a:moveTo>
                <a:lnTo>
                  <a:pt x="4956610" y="0"/>
                </a:lnTo>
                <a:lnTo>
                  <a:pt x="4956610" y="1451088"/>
                </a:lnTo>
                <a:lnTo>
                  <a:pt x="0" y="1451088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4995" y="7177402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343679"/>
                </a:moveTo>
                <a:cubicBezTo>
                  <a:pt x="266680" y="343679"/>
                  <a:pt x="343679" y="266680"/>
                  <a:pt x="343679" y="171839"/>
                </a:cubicBezTo>
                <a:cubicBezTo>
                  <a:pt x="343679" y="76999"/>
                  <a:pt x="266680" y="0"/>
                  <a:pt x="171839" y="0"/>
                </a:cubicBezTo>
                <a:cubicBezTo>
                  <a:pt x="76999" y="0"/>
                  <a:pt x="0" y="76999"/>
                  <a:pt x="0" y="171839"/>
                </a:cubicBezTo>
                <a:cubicBezTo>
                  <a:pt x="0" y="266680"/>
                  <a:pt x="76999" y="343679"/>
                  <a:pt x="171839" y="343679"/>
                </a:cubicBezTo>
                <a:close/>
                <a:moveTo>
                  <a:pt x="228493" y="142774"/>
                </a:moveTo>
                <a:lnTo>
                  <a:pt x="174793" y="228694"/>
                </a:lnTo>
                <a:cubicBezTo>
                  <a:pt x="171974" y="233191"/>
                  <a:pt x="167141" y="236011"/>
                  <a:pt x="161838" y="236279"/>
                </a:cubicBezTo>
                <a:cubicBezTo>
                  <a:pt x="156535" y="236548"/>
                  <a:pt x="151433" y="234131"/>
                  <a:pt x="148279" y="229835"/>
                </a:cubicBezTo>
                <a:lnTo>
                  <a:pt x="116059" y="186875"/>
                </a:lnTo>
                <a:cubicBezTo>
                  <a:pt x="110689" y="179760"/>
                  <a:pt x="112165" y="169691"/>
                  <a:pt x="119281" y="164321"/>
                </a:cubicBezTo>
                <a:cubicBezTo>
                  <a:pt x="126396" y="158951"/>
                  <a:pt x="136465" y="160428"/>
                  <a:pt x="141835" y="167543"/>
                </a:cubicBezTo>
                <a:lnTo>
                  <a:pt x="159958" y="191708"/>
                </a:lnTo>
                <a:lnTo>
                  <a:pt x="201173" y="125725"/>
                </a:lnTo>
                <a:cubicBezTo>
                  <a:pt x="205872" y="118207"/>
                  <a:pt x="215806" y="115857"/>
                  <a:pt x="223391" y="120623"/>
                </a:cubicBezTo>
                <a:cubicBezTo>
                  <a:pt x="230976" y="125389"/>
                  <a:pt x="233258" y="135256"/>
                  <a:pt x="228493" y="1428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8"/>
          <p:cNvSpPr/>
          <p:nvPr/>
        </p:nvSpPr>
        <p:spPr>
          <a:xfrm>
            <a:off x="1262064" y="7188858"/>
            <a:ext cx="1729849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Design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9171" y="7658552"/>
            <a:ext cx="4674030" cy="59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3-tier architecture enabling seamless expansion across all emergency services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50292" y="6990284"/>
            <a:ext cx="4956610" cy="1451088"/>
          </a:xfrm>
          <a:custGeom>
            <a:avLst/>
            <a:gdLst/>
            <a:ahLst/>
            <a:cxnLst/>
            <a:rect l="l" t="t" r="r" b="b"/>
            <a:pathLst>
              <a:path w="4956610" h="1451088">
                <a:moveTo>
                  <a:pt x="0" y="0"/>
                </a:moveTo>
                <a:lnTo>
                  <a:pt x="4956610" y="0"/>
                </a:lnTo>
                <a:lnTo>
                  <a:pt x="4956610" y="1451088"/>
                </a:lnTo>
                <a:lnTo>
                  <a:pt x="0" y="1451088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83230" y="7177402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343679"/>
                </a:moveTo>
                <a:cubicBezTo>
                  <a:pt x="266680" y="343679"/>
                  <a:pt x="343679" y="266680"/>
                  <a:pt x="343679" y="171839"/>
                </a:cubicBezTo>
                <a:cubicBezTo>
                  <a:pt x="343679" y="76999"/>
                  <a:pt x="266680" y="0"/>
                  <a:pt x="171839" y="0"/>
                </a:cubicBezTo>
                <a:cubicBezTo>
                  <a:pt x="76999" y="0"/>
                  <a:pt x="0" y="76999"/>
                  <a:pt x="0" y="171839"/>
                </a:cubicBezTo>
                <a:cubicBezTo>
                  <a:pt x="0" y="266680"/>
                  <a:pt x="76999" y="343679"/>
                  <a:pt x="171839" y="343679"/>
                </a:cubicBezTo>
                <a:close/>
                <a:moveTo>
                  <a:pt x="228493" y="142774"/>
                </a:moveTo>
                <a:lnTo>
                  <a:pt x="174793" y="228694"/>
                </a:lnTo>
                <a:cubicBezTo>
                  <a:pt x="171974" y="233191"/>
                  <a:pt x="167141" y="236011"/>
                  <a:pt x="161838" y="236279"/>
                </a:cubicBezTo>
                <a:cubicBezTo>
                  <a:pt x="156535" y="236548"/>
                  <a:pt x="151433" y="234131"/>
                  <a:pt x="148279" y="229835"/>
                </a:cubicBezTo>
                <a:lnTo>
                  <a:pt x="116059" y="186875"/>
                </a:lnTo>
                <a:cubicBezTo>
                  <a:pt x="110689" y="179760"/>
                  <a:pt x="112165" y="169691"/>
                  <a:pt x="119281" y="164321"/>
                </a:cubicBezTo>
                <a:cubicBezTo>
                  <a:pt x="126396" y="158951"/>
                  <a:pt x="136465" y="160428"/>
                  <a:pt x="141835" y="167543"/>
                </a:cubicBezTo>
                <a:lnTo>
                  <a:pt x="159958" y="191708"/>
                </a:lnTo>
                <a:lnTo>
                  <a:pt x="201173" y="125725"/>
                </a:lnTo>
                <a:cubicBezTo>
                  <a:pt x="205872" y="118207"/>
                  <a:pt x="215806" y="115857"/>
                  <a:pt x="223391" y="120623"/>
                </a:cubicBezTo>
                <a:cubicBezTo>
                  <a:pt x="230976" y="125389"/>
                  <a:pt x="233258" y="135256"/>
                  <a:pt x="228493" y="1428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Text 32"/>
          <p:cNvSpPr/>
          <p:nvPr/>
        </p:nvSpPr>
        <p:spPr>
          <a:xfrm>
            <a:off x="6450300" y="7188858"/>
            <a:ext cx="2004792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Maximum Security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837406" y="7658552"/>
            <a:ext cx="4674030" cy="59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Multi-layered security with dual firewalls, AAA/RADIUS, and network segmentation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838527" y="6990284"/>
            <a:ext cx="4956610" cy="1451088"/>
          </a:xfrm>
          <a:custGeom>
            <a:avLst/>
            <a:gdLst/>
            <a:ahLst/>
            <a:cxnLst/>
            <a:rect l="l" t="t" r="r" b="b"/>
            <a:pathLst>
              <a:path w="4956610" h="1451088">
                <a:moveTo>
                  <a:pt x="0" y="0"/>
                </a:moveTo>
                <a:lnTo>
                  <a:pt x="4956610" y="0"/>
                </a:lnTo>
                <a:lnTo>
                  <a:pt x="4956610" y="1451088"/>
                </a:lnTo>
                <a:lnTo>
                  <a:pt x="0" y="1451088"/>
                </a:lnTo>
                <a:lnTo>
                  <a:pt x="0" y="0"/>
                </a:lnTo>
                <a:close/>
              </a:path>
            </a:pathLst>
          </a:custGeom>
          <a:solidFill>
            <a:srgbClr val="2E343B"/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071464" y="7177402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343679"/>
                </a:moveTo>
                <a:cubicBezTo>
                  <a:pt x="266680" y="343679"/>
                  <a:pt x="343679" y="266680"/>
                  <a:pt x="343679" y="171839"/>
                </a:cubicBezTo>
                <a:cubicBezTo>
                  <a:pt x="343679" y="76999"/>
                  <a:pt x="266680" y="0"/>
                  <a:pt x="171839" y="0"/>
                </a:cubicBezTo>
                <a:cubicBezTo>
                  <a:pt x="76999" y="0"/>
                  <a:pt x="0" y="76999"/>
                  <a:pt x="0" y="171839"/>
                </a:cubicBezTo>
                <a:cubicBezTo>
                  <a:pt x="0" y="266680"/>
                  <a:pt x="76999" y="343679"/>
                  <a:pt x="171839" y="343679"/>
                </a:cubicBezTo>
                <a:close/>
                <a:moveTo>
                  <a:pt x="228493" y="142774"/>
                </a:moveTo>
                <a:lnTo>
                  <a:pt x="174793" y="228694"/>
                </a:lnTo>
                <a:cubicBezTo>
                  <a:pt x="171974" y="233191"/>
                  <a:pt x="167141" y="236011"/>
                  <a:pt x="161838" y="236279"/>
                </a:cubicBezTo>
                <a:cubicBezTo>
                  <a:pt x="156535" y="236548"/>
                  <a:pt x="151433" y="234131"/>
                  <a:pt x="148279" y="229835"/>
                </a:cubicBezTo>
                <a:lnTo>
                  <a:pt x="116059" y="186875"/>
                </a:lnTo>
                <a:cubicBezTo>
                  <a:pt x="110689" y="179760"/>
                  <a:pt x="112165" y="169691"/>
                  <a:pt x="119281" y="164321"/>
                </a:cubicBezTo>
                <a:cubicBezTo>
                  <a:pt x="126396" y="158951"/>
                  <a:pt x="136465" y="160428"/>
                  <a:pt x="141835" y="167543"/>
                </a:cubicBezTo>
                <a:lnTo>
                  <a:pt x="159958" y="191708"/>
                </a:lnTo>
                <a:lnTo>
                  <a:pt x="201173" y="125725"/>
                </a:lnTo>
                <a:cubicBezTo>
                  <a:pt x="205872" y="118207"/>
                  <a:pt x="215806" y="115857"/>
                  <a:pt x="223391" y="120623"/>
                </a:cubicBezTo>
                <a:cubicBezTo>
                  <a:pt x="230976" y="125389"/>
                  <a:pt x="233258" y="135256"/>
                  <a:pt x="228493" y="1428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6"/>
          <p:cNvSpPr/>
          <p:nvPr/>
        </p:nvSpPr>
        <p:spPr>
          <a:xfrm>
            <a:off x="11638534" y="7188858"/>
            <a:ext cx="1454906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Ready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025641" y="7658552"/>
            <a:ext cx="4674030" cy="59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VoIP, IoT integration, and converged network services for next-gen emergency response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58238" y="8823233"/>
            <a:ext cx="15339524" cy="22912"/>
          </a:xfrm>
          <a:custGeom>
            <a:avLst/>
            <a:gdLst/>
            <a:ahLst/>
            <a:cxnLst/>
            <a:rect l="l" t="t" r="r" b="b"/>
            <a:pathLst>
              <a:path w="15339524" h="22912">
                <a:moveTo>
                  <a:pt x="0" y="0"/>
                </a:moveTo>
                <a:lnTo>
                  <a:pt x="15339524" y="0"/>
                </a:lnTo>
                <a:lnTo>
                  <a:pt x="15339524" y="22912"/>
                </a:lnTo>
                <a:lnTo>
                  <a:pt x="0" y="2291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39"/>
          <p:cNvSpPr/>
          <p:nvPr/>
        </p:nvSpPr>
        <p:spPr>
          <a:xfrm>
            <a:off x="400958" y="9063808"/>
            <a:ext cx="15454083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by:</a:t>
            </a:r>
            <a:r>
              <a:rPr lang="en-US" sz="18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Abdul Wahid | </a:t>
            </a:r>
            <a:r>
              <a:rPr lang="en-US" sz="18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Project:</a:t>
            </a:r>
            <a:r>
              <a:rPr lang="en-US" sz="18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PESI Network Infrastructure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89502" y="9476223"/>
            <a:ext cx="15476995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6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December 24,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1883</Words>
  <Application>Microsoft Office PowerPoint</Application>
  <PresentationFormat>Custom</PresentationFormat>
  <Paragraphs>522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Liter</vt:lpstr>
      <vt:lpstr>微软雅黑</vt:lpstr>
      <vt:lpstr>Quattrocento Sans</vt:lpstr>
      <vt:lpstr>Sorts Mill Goudy</vt:lpstr>
      <vt:lpstr>Hedvig Letters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PESI: Pakistan Emergency Smart Infrastructure</dc:title>
  <dc:subject>PESI: Pakistan Emergency Smart Infrastructure</dc:subject>
  <dc:creator>Kimi</dc:creator>
  <cp:lastModifiedBy>Abdul Wahid</cp:lastModifiedBy>
  <cp:revision>3</cp:revision>
  <dcterms:created xsi:type="dcterms:W3CDTF">2025-12-24T07:11:54Z</dcterms:created>
  <dcterms:modified xsi:type="dcterms:W3CDTF">2025-12-24T07:18:28Z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{"Label":"PESI: Pakistan Emergency Smart Infrastructure","ContentProducer":"001191110108MACG2KBH8F10000","ProduceID":"19b4f2a5-6d72-80b4-8000-0000c02af7b6","ReservedCode1":"","ContentPropagator":"001191110108MACG2KBH8F20000","PropagateID":"19b4f2a5-6d72-80b4-8000-0000c02af7b6","ReservedCode2":""}</vt:lpwstr>
  </property>
</Properties>
</file>